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945688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1" d="100"/>
          <a:sy n="81" d="100"/>
        </p:scale>
        <p:origin x="9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Ouvrir avec la vision globale : une seule plateforme pour casser les silos et structurer les flux metier.</a:t>
            </a:r>
          </a:p>
          <a:p>
            <a:endParaRPr/>
          </a:p>
          <a:p>
            <a:r>
              <a:t>[Sources]</a:t>
            </a:r>
          </a:p>
          <a:p>
            <a:r>
              <a:t>- README.md - presentation generale du projet, modules et structure.</a:t>
            </a:r>
          </a:p>
          <a:p>
            <a:r>
              <a:t>- docs/RAPPORT_ANALYSE.md - contexte, processus metier et architecture cible.</a:t>
            </a:r>
          </a:p>
          <a:p>
            <a:r>
              <a:t>- docker-compose.yml - composition de la stack et services exposes.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Insister sur le fait que le projet part d'un besoin de transformation digitale tres concret.</a:t>
            </a:r>
          </a:p>
          <a:p>
            <a:endParaRPr/>
          </a:p>
          <a:p>
            <a:r>
              <a:t>[Sources]</a:t>
            </a:r>
          </a:p>
          <a:p>
            <a:r>
              <a:t>- docs/RAPPORT_ANALYSE.md - contexte, processus metier et architecture cible.</a:t>
            </a:r>
          </a:p>
          <a:p>
            <a:r>
              <a:t>- README.md - presentation generale du projet, modules et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Montrer que la plateforme ne juxtapose pas des ecrans : elle relie vraiment les processus de bout en bout.</a:t>
            </a:r>
          </a:p>
          <a:p>
            <a:endParaRPr/>
          </a:p>
          <a:p>
            <a:r>
              <a:t>[Sources]</a:t>
            </a:r>
          </a:p>
          <a:p>
            <a:r>
              <a:t>- README.md - presentation generale du projet, modules et structure.</a:t>
            </a:r>
          </a:p>
          <a:p>
            <a:r>
              <a:t>- docker-compose.yml - composition de la stack et services exposes.</a:t>
            </a:r>
          </a:p>
          <a:p>
            <a:r>
              <a:t>- services/api-gateway/index.js et routes/services/INDEX.md - gateway, securite et cartographie des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Cette slide sert a montrer l'ampleur fonctionnelle sans entrer trop tot dans le detail de chaque module.</a:t>
            </a:r>
          </a:p>
          <a:p>
            <a:endParaRPr/>
          </a:p>
          <a:p>
            <a:r>
              <a:t>[Sources]</a:t>
            </a:r>
          </a:p>
          <a:p>
            <a:r>
              <a:t>- README.md - presentation generale du projet, modules et structure.</a:t>
            </a:r>
          </a:p>
          <a:p>
            <a:r>
              <a:t>- docs/RAPPORT_ANALYSE.md - contexte, processus metier et architecture cible.</a:t>
            </a:r>
          </a:p>
          <a:p>
            <a:r>
              <a:t>- frontend/package.json et frontend/README.md - stack frontend et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Mettre en avant le caractere evolutif de l'architecture et la separation nette des couches.</a:t>
            </a:r>
          </a:p>
          <a:p>
            <a:endParaRPr/>
          </a:p>
          <a:p>
            <a:r>
              <a:t>[Sources]</a:t>
            </a:r>
          </a:p>
          <a:p>
            <a:r>
              <a:t>- docker-compose.yml - composition de la stack et services exposes.</a:t>
            </a:r>
          </a:p>
          <a:p>
            <a:r>
              <a:t>- frontend/package.json et frontend/README.md - stack frontend et organisation.</a:t>
            </a:r>
          </a:p>
          <a:p>
            <a:r>
              <a:t>- services/api-gateway/index.js et routes/services/INDEX.md - gateway, securite et cartographie des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C'est ici qu'il faut montrer que le projet est aligne avec des besoins metier reels et un contexte local concret.</a:t>
            </a:r>
          </a:p>
          <a:p>
            <a:endParaRPr/>
          </a:p>
          <a:p>
            <a:r>
              <a:t>[Sources]</a:t>
            </a:r>
          </a:p>
          <a:p>
            <a:r>
              <a:t>- docs/RAPPORT_ANALYSE.md - contexte, processus metier et architecture cible.</a:t>
            </a:r>
          </a:p>
          <a:p>
            <a:r>
              <a:t>- services/hr-service/server.js et services/logipaie.service.js - couverture RH / paie et logique locale.</a:t>
            </a:r>
          </a:p>
          <a:p>
            <a:r>
              <a:t>- services/customer-service/routes/client.routes.js - validations metier locales cote CRM.</a:t>
            </a:r>
          </a:p>
          <a:p>
            <a:r>
              <a:t>- services/api-gateway/index.js et routes/services/INDEX.md - gateway, securite et cartographie des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Cette slide sert a montrer que la plateforme depasse le stade de prototype et dispose deja d'une surface fonctionnelle importante.</a:t>
            </a:r>
          </a:p>
          <a:p>
            <a:endParaRPr/>
          </a:p>
          <a:p>
            <a:r>
              <a:t>[Sources]</a:t>
            </a:r>
          </a:p>
          <a:p>
            <a:r>
              <a:t>- frontend/package.json et frontend/README.md - stack frontend et organisation.</a:t>
            </a:r>
          </a:p>
          <a:p>
            <a:r>
              <a:t>- docker-compose.yml - composition de la stack et services exposes.</a:t>
            </a:r>
          </a:p>
          <a:p>
            <a:r>
              <a:t>- README.md - presentation generale du projet, modules et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Terminer sur une note positive : le projet est deja solide et la suite consiste surtout a renforcer sa maturite industrielle.</a:t>
            </a:r>
          </a:p>
          <a:p>
            <a:endParaRPr/>
          </a:p>
          <a:p>
            <a:r>
              <a:t>[Sources]</a:t>
            </a:r>
          </a:p>
          <a:p>
            <a:r>
              <a:t>- scripts/run-validation.mjs - pipeline de validation automatisee du depot.</a:t>
            </a:r>
          </a:p>
          <a:p>
            <a:r>
              <a:t>- README.md - presentation generale du projet, modules et structure.</a:t>
            </a:r>
          </a:p>
          <a:p>
            <a:r>
              <a:t>- services/api-gateway/index.js et routes/services/INDEX.md - gateway, securite et cartographie des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553237-20DA-42B5-BE6A-99BFFA5D3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52D1624-83D4-493E-82E0-017F672C9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D197993-3673-4E5A-8EAC-4F28636F3B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990285-D487-48F2-ABD6-719206EF83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7033AA6-C247-44C1-AD29-648445C3E90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D9E0DD50-DF4E-4EEF-AB32-517F8A8744EC}"/>
              </a:ext>
            </a:extLst>
          </p:cNvPr>
          <p:cNvSpPr>
            <a:spLocks noGrp="1"/>
          </p:cNvSpPr>
          <p:nvPr/>
        </p:nvSpPr>
        <p:spPr>
          <a:xfrm>
            <a:off x="8020050" y="-819150"/>
            <a:ext cx="4953000" cy="4953000"/>
          </a:xfrm>
          <a:prstGeom prst="ellipse">
            <a:avLst/>
          </a:prstGeom>
          <a:solidFill>
            <a:srgbClr val="F0A44B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97879A4-627B-4367-B33B-AD143D5391A5}"/>
              </a:ext>
            </a:extLst>
          </p:cNvPr>
          <p:cNvSpPr>
            <a:spLocks noGrp="1"/>
          </p:cNvSpPr>
          <p:nvPr/>
        </p:nvSpPr>
        <p:spPr>
          <a:xfrm>
            <a:off x="8782050" y="2971800"/>
            <a:ext cx="4191000" cy="4191000"/>
          </a:xfrm>
          <a:prstGeom prst="ellipse">
            <a:avLst/>
          </a:prstGeom>
          <a:solidFill>
            <a:srgbClr val="40A0D8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5F64E4A-3F29-47EF-8167-47B355713C86}"/>
              </a:ext>
            </a:extLst>
          </p:cNvPr>
          <p:cNvSpPr>
            <a:spLocks noGrp="1"/>
          </p:cNvSpPr>
          <p:nvPr/>
        </p:nvSpPr>
        <p:spPr>
          <a:xfrm>
            <a:off x="-1714500" y="4648200"/>
            <a:ext cx="4000500" cy="4000500"/>
          </a:xfrm>
          <a:prstGeom prst="ellipse">
            <a:avLst/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9F5A41-0CF2-431B-94FD-9720885D22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8A7E282-BCBE-4DB0-BFFA-67B3EAEBB67B}"/>
              </a:ext>
            </a:extLst>
          </p:cNvPr>
          <p:cNvSpPr>
            <a:spLocks noGrp="1"/>
          </p:cNvSpPr>
          <p:nvPr/>
        </p:nvSpPr>
        <p:spPr>
          <a:xfrm>
            <a:off x="7334250" y="1162050"/>
            <a:ext cx="3771900" cy="3771900"/>
          </a:xfrm>
          <a:prstGeom prst="roundRect">
            <a:avLst>
              <a:gd name="adj" fmla="val 2020"/>
            </a:avLst>
          </a:prstGeom>
          <a:solidFill>
            <a:srgbClr val="FFFFFF">
              <a:alpha val="7059"/>
            </a:srgbClr>
          </a:solidFill>
          <a:ln w="11430">
            <a:solidFill>
              <a:srgbClr val="FFFFFF">
                <a:alpha val="16471"/>
              </a:srgbClr>
            </a:solidFill>
            <a:prstDash val="solid"/>
          </a:ln>
        </p:spPr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96200" y="1447800"/>
            <a:ext cx="3048000" cy="304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08F2119-F863-4C03-8298-7AB8F3DD3936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66675" cy="436245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E3902C-DFFE-4C19-8B8B-D02D67203532}"/>
              </a:ext>
            </a:extLst>
          </p:cNvPr>
          <p:cNvSpPr>
            <a:spLocks noGrp="1"/>
          </p:cNvSpPr>
          <p:nvPr/>
        </p:nvSpPr>
        <p:spPr>
          <a:xfrm>
            <a:off x="914400" y="10287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AC5EC"/>
                </a:solidFill>
              </a:defRPr>
            </a:pPr>
            <a:r>
              <a:rPr sz="975" b="1">
                <a:solidFill>
                  <a:srgbClr val="7AC5EC"/>
                </a:solidFill>
              </a:rPr>
              <a:t>Presentation projet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30908B-F90B-4792-9049-BD7998C1BE60}"/>
              </a:ext>
            </a:extLst>
          </p:cNvPr>
          <p:cNvSpPr>
            <a:spLocks noGrp="1"/>
          </p:cNvSpPr>
          <p:nvPr/>
        </p:nvSpPr>
        <p:spPr>
          <a:xfrm>
            <a:off x="876300" y="1466850"/>
            <a:ext cx="552450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ParabellumGroups ERP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A70276-0846-4DEF-A57C-9DD40018C346}"/>
              </a:ext>
            </a:extLst>
          </p:cNvPr>
          <p:cNvSpPr>
            <a:spLocks noGrp="1"/>
          </p:cNvSpPr>
          <p:nvPr/>
        </p:nvSpPr>
        <p:spPr>
          <a:xfrm>
            <a:off x="914400" y="3219450"/>
            <a:ext cx="5391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E5ECF5"/>
                </a:solidFill>
              </a:defRPr>
            </a:pPr>
            <a:r>
              <a:rPr sz="1500" b="0">
                <a:solidFill>
                  <a:srgbClr val="E5ECF5"/>
                </a:solidFill>
              </a:rPr>
              <a:t>Plateforme ERP modulaire pour centraliser, securiser et piloter l'activite de l'entreprise.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074A3FF-CE81-4305-AC2E-CC737C3801BA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4953000" cy="895350"/>
          </a:xfrm>
          <a:prstGeom prst="roundRect">
            <a:avLst>
              <a:gd name="adj" fmla="val 8511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6CCA7F-C0EB-4D48-A961-C88660678C3A}"/>
              </a:ext>
            </a:extLst>
          </p:cNvPr>
          <p:cNvSpPr>
            <a:spLocks noGrp="1"/>
          </p:cNvSpPr>
          <p:nvPr/>
        </p:nvSpPr>
        <p:spPr>
          <a:xfrm>
            <a:off x="1181100" y="4714875"/>
            <a:ext cx="4400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Une plateforme unique pour relier commercial, operations et finance.</a:t>
            </a:r>
          </a:p>
        </p:txBody>
      </p:sp>
    </p:spTree>
    <p:extLst>
      <p:ext uri="{BB962C8B-B14F-4D97-AF65-F5344CB8AC3E}">
        <p14:creationId xmlns:p14="http://schemas.microsoft.com/office/powerpoint/2010/main" val="14944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0999A-49DE-49D4-870F-3191A834AEE1}"/>
              </a:ext>
            </a:extLst>
          </p:cNvPr>
          <p:cNvSpPr>
            <a:spLocks noGrp="1"/>
          </p:cNvSpPr>
          <p:nvPr/>
        </p:nvSpPr>
        <p:spPr>
          <a:xfrm>
            <a:off x="10496550" y="0"/>
            <a:ext cx="1695450" cy="6858000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5EB148F-5853-476C-9F0F-9CFEEC1AA25E}"/>
              </a:ext>
            </a:extLst>
          </p:cNvPr>
          <p:cNvSpPr>
            <a:spLocks noGrp="1"/>
          </p:cNvSpPr>
          <p:nvPr/>
        </p:nvSpPr>
        <p:spPr>
          <a:xfrm>
            <a:off x="9810750" y="-495300"/>
            <a:ext cx="2476500" cy="2476500"/>
          </a:xfrm>
          <a:prstGeom prst="ellipse">
            <a:avLst/>
          </a:prstGeom>
          <a:solidFill>
            <a:srgbClr val="F0A44B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87E7A95-D825-416D-A047-E1C711B0627D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2095500" cy="2095500"/>
          </a:xfrm>
          <a:prstGeom prst="ellipse">
            <a:avLst/>
          </a:prstGeom>
          <a:solidFill>
            <a:srgbClr val="40A0D8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76CA2DC-A7B1-469B-BA2F-43AB183EAC21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286000" cy="2286000"/>
          </a:xfrm>
          <a:prstGeom prst="ellipse">
            <a:avLst/>
          </a:prstGeom>
          <a:solidFill>
            <a:srgbClr val="DCE6F4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EE1CF-4335-4F0D-A450-4B1A928A02D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03820C0-621F-4CAA-AAAA-BECB740407F9}"/>
              </a:ext>
            </a:extLst>
          </p:cNvPr>
          <p:cNvSpPr>
            <a:spLocks noGrp="1"/>
          </p:cNvSpPr>
          <p:nvPr/>
        </p:nvSpPr>
        <p:spPr>
          <a:xfrm>
            <a:off x="10658475" y="781050"/>
            <a:ext cx="8953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44200" y="866775"/>
            <a:ext cx="723900" cy="723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DE976B-8010-4468-8473-27BF0021D92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PROBLEME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B8752-97E1-4837-B2DF-7935673EB843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 / 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3771D-2071-4C31-80DF-D3E1D592DBA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F6AA520-1BD9-4999-894A-0F335F6B3A9F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71450" cy="171450"/>
          </a:xfrm>
          <a:prstGeom prst="ellipse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039EC6-57F0-4569-B61B-AE3830AADC3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Un probleme simple : l'information est dispersee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6735B0-814B-4554-9A1E-E01C292A17E5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 dirty="0">
                <a:solidFill>
                  <a:srgbClr val="334155"/>
                </a:solidFill>
              </a:rPr>
              <a:t>Sans </a:t>
            </a:r>
            <a:r>
              <a:rPr sz="1350" b="0" dirty="0" err="1">
                <a:solidFill>
                  <a:srgbClr val="334155"/>
                </a:solidFill>
              </a:rPr>
              <a:t>plateforme</a:t>
            </a:r>
            <a:r>
              <a:rPr sz="1350" b="0" dirty="0">
                <a:solidFill>
                  <a:srgbClr val="334155"/>
                </a:solidFill>
              </a:rPr>
              <a:t> </a:t>
            </a:r>
            <a:r>
              <a:rPr sz="1350" b="0" dirty="0" err="1">
                <a:solidFill>
                  <a:srgbClr val="334155"/>
                </a:solidFill>
              </a:rPr>
              <a:t>unifiee</a:t>
            </a:r>
            <a:r>
              <a:rPr sz="1350" b="0" dirty="0">
                <a:solidFill>
                  <a:srgbClr val="334155"/>
                </a:solidFill>
              </a:rPr>
              <a:t>, les equipes </a:t>
            </a:r>
            <a:r>
              <a:rPr sz="1350" b="0" dirty="0" err="1">
                <a:solidFill>
                  <a:srgbClr val="334155"/>
                </a:solidFill>
              </a:rPr>
              <a:t>travaillent</a:t>
            </a:r>
            <a:r>
              <a:rPr sz="1350" b="0" dirty="0">
                <a:solidFill>
                  <a:srgbClr val="334155"/>
                </a:solidFill>
              </a:rPr>
              <a:t> </a:t>
            </a:r>
            <a:r>
              <a:rPr sz="1350" b="0" dirty="0" err="1">
                <a:solidFill>
                  <a:srgbClr val="334155"/>
                </a:solidFill>
              </a:rPr>
              <a:t>en</a:t>
            </a:r>
            <a:r>
              <a:rPr sz="1350" b="0" dirty="0">
                <a:solidFill>
                  <a:srgbClr val="334155"/>
                </a:solidFill>
              </a:rPr>
              <a:t> silos et le pilotage </a:t>
            </a:r>
            <a:r>
              <a:rPr sz="1350" b="0" dirty="0" err="1">
                <a:solidFill>
                  <a:srgbClr val="334155"/>
                </a:solidFill>
              </a:rPr>
              <a:t>devient</a:t>
            </a:r>
            <a:r>
              <a:rPr sz="1350" b="0" dirty="0">
                <a:solidFill>
                  <a:srgbClr val="334155"/>
                </a:solidFill>
              </a:rPr>
              <a:t> lent.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A3284D1-A568-4A28-8AD3-AFB16E296EAC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CEDFFF-3040-4956-93FF-A8D0B6BF5C04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3E92552-FD65-45B4-AE07-28685073D7EC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3437DE-F4FD-48EE-ACE7-B1D19993F2E9}"/>
              </a:ext>
            </a:extLst>
          </p:cNvPr>
          <p:cNvSpPr>
            <a:spLocks noGrp="1"/>
          </p:cNvSpPr>
          <p:nvPr/>
        </p:nvSpPr>
        <p:spPr>
          <a:xfrm>
            <a:off x="1162050" y="3895725"/>
            <a:ext cx="57150" cy="1143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FE4820-0FE2-4AF0-A196-4F0DCE6374DE}"/>
              </a:ext>
            </a:extLst>
          </p:cNvPr>
          <p:cNvSpPr>
            <a:spLocks noGrp="1"/>
          </p:cNvSpPr>
          <p:nvPr/>
        </p:nvSpPr>
        <p:spPr>
          <a:xfrm>
            <a:off x="1247775" y="3819525"/>
            <a:ext cx="57150" cy="1905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84CC94-22DE-46C3-A29B-F91BE0C1897E}"/>
              </a:ext>
            </a:extLst>
          </p:cNvPr>
          <p:cNvSpPr>
            <a:spLocks noGrp="1"/>
          </p:cNvSpPr>
          <p:nvPr/>
        </p:nvSpPr>
        <p:spPr>
          <a:xfrm>
            <a:off x="1333500" y="3752850"/>
            <a:ext cx="57150" cy="257175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9601FB-74C9-4419-801E-0A5A9204B357}"/>
              </a:ext>
            </a:extLst>
          </p:cNvPr>
          <p:cNvSpPr>
            <a:spLocks noGrp="1"/>
          </p:cNvSpPr>
          <p:nvPr/>
        </p:nvSpPr>
        <p:spPr>
          <a:xfrm>
            <a:off x="163830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Silos metier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0AB352-2A5E-4C99-AD17-638CFC7C4623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Commercial, RH, achats,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technique et finance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s'appuient souvent sur des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outils separes.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E31D2E2A-8024-4B54-AC60-A920D6EB8FF5}"/>
              </a:ext>
            </a:extLst>
          </p:cNvPr>
          <p:cNvSpPr>
            <a:spLocks noGrp="1"/>
          </p:cNvSpPr>
          <p:nvPr/>
        </p:nvSpPr>
        <p:spPr>
          <a:xfrm>
            <a:off x="441325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7D3031-A057-41FD-A63E-76078060853D}"/>
              </a:ext>
            </a:extLst>
          </p:cNvPr>
          <p:cNvSpPr>
            <a:spLocks noGrp="1"/>
          </p:cNvSpPr>
          <p:nvPr/>
        </p:nvSpPr>
        <p:spPr>
          <a:xfrm>
            <a:off x="441325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2CCFF87-ED54-4147-9907-B2CFE216E3A8}"/>
              </a:ext>
            </a:extLst>
          </p:cNvPr>
          <p:cNvSpPr>
            <a:spLocks noGrp="1"/>
          </p:cNvSpPr>
          <p:nvPr/>
        </p:nvSpPr>
        <p:spPr>
          <a:xfrm>
            <a:off x="462280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80283B4-D70F-45C0-94E5-DDF11910CA6C}"/>
              </a:ext>
            </a:extLst>
          </p:cNvPr>
          <p:cNvSpPr>
            <a:spLocks noGrp="1"/>
          </p:cNvSpPr>
          <p:nvPr/>
        </p:nvSpPr>
        <p:spPr>
          <a:xfrm>
            <a:off x="4746625" y="3790950"/>
            <a:ext cx="95250" cy="95250"/>
          </a:xfrm>
          <a:prstGeom prst="ellipse">
            <a:avLst/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AB6ED0A-9F6E-4E36-95E6-9AD1EF613906}"/>
              </a:ext>
            </a:extLst>
          </p:cNvPr>
          <p:cNvSpPr>
            <a:spLocks noGrp="1"/>
          </p:cNvSpPr>
          <p:nvPr/>
        </p:nvSpPr>
        <p:spPr>
          <a:xfrm>
            <a:off x="4918075" y="3876675"/>
            <a:ext cx="95250" cy="95250"/>
          </a:xfrm>
          <a:prstGeom prst="ellipse">
            <a:avLst/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1991AF-FA4C-417D-9AE8-835500FF7E1B}"/>
              </a:ext>
            </a:extLst>
          </p:cNvPr>
          <p:cNvSpPr>
            <a:spLocks noGrp="1"/>
          </p:cNvSpPr>
          <p:nvPr/>
        </p:nvSpPr>
        <p:spPr>
          <a:xfrm>
            <a:off x="4832350" y="3857625"/>
            <a:ext cx="180975" cy="28575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3B4B8F-C2EF-466F-80D2-8A8AB376148D}"/>
              </a:ext>
            </a:extLst>
          </p:cNvPr>
          <p:cNvSpPr>
            <a:spLocks noGrp="1"/>
          </p:cNvSpPr>
          <p:nvPr/>
        </p:nvSpPr>
        <p:spPr>
          <a:xfrm>
            <a:off x="525145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Taches manuelles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C9D926-3D2F-4BEA-9782-13419F75F219}"/>
              </a:ext>
            </a:extLst>
          </p:cNvPr>
          <p:cNvSpPr>
            <a:spLocks noGrp="1"/>
          </p:cNvSpPr>
          <p:nvPr/>
        </p:nvSpPr>
        <p:spPr>
          <a:xfrm>
            <a:off x="464185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Excel, ressaisies et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validations hors flux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augmentent les erreurs et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les retards.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1E527AEF-2438-4B94-A8D6-3C642FD2841F}"/>
              </a:ext>
            </a:extLst>
          </p:cNvPr>
          <p:cNvSpPr>
            <a:spLocks noGrp="1"/>
          </p:cNvSpPr>
          <p:nvPr/>
        </p:nvSpPr>
        <p:spPr>
          <a:xfrm>
            <a:off x="802640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C34641-BC9E-4EA9-8EC6-66F4315E51FD}"/>
              </a:ext>
            </a:extLst>
          </p:cNvPr>
          <p:cNvSpPr>
            <a:spLocks noGrp="1"/>
          </p:cNvSpPr>
          <p:nvPr/>
        </p:nvSpPr>
        <p:spPr>
          <a:xfrm>
            <a:off x="802640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56DCCAEF-CD43-4D7D-A5C2-18DDDFA9A50F}"/>
              </a:ext>
            </a:extLst>
          </p:cNvPr>
          <p:cNvSpPr>
            <a:spLocks noGrp="1"/>
          </p:cNvSpPr>
          <p:nvPr/>
        </p:nvSpPr>
        <p:spPr>
          <a:xfrm>
            <a:off x="823595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9935E676-4726-4E36-8315-42E9BDE5CA61}"/>
              </a:ext>
            </a:extLst>
          </p:cNvPr>
          <p:cNvSpPr>
            <a:spLocks noGrp="1"/>
          </p:cNvSpPr>
          <p:nvPr/>
        </p:nvSpPr>
        <p:spPr>
          <a:xfrm>
            <a:off x="8359775" y="37623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EFE20042-8E78-4F27-8B2E-7AEB0AF26C99}"/>
              </a:ext>
            </a:extLst>
          </p:cNvPr>
          <p:cNvSpPr>
            <a:spLocks noGrp="1"/>
          </p:cNvSpPr>
          <p:nvPr/>
        </p:nvSpPr>
        <p:spPr>
          <a:xfrm>
            <a:off x="8407400" y="38481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40A0D8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5B9D6F4F-DD60-4748-A7FF-199D4C9C3E56}"/>
              </a:ext>
            </a:extLst>
          </p:cNvPr>
          <p:cNvSpPr>
            <a:spLocks noGrp="1"/>
          </p:cNvSpPr>
          <p:nvPr/>
        </p:nvSpPr>
        <p:spPr>
          <a:xfrm>
            <a:off x="8455025" y="39338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1F6FAE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EFE0890-70BC-4134-8232-1951748A8489}"/>
              </a:ext>
            </a:extLst>
          </p:cNvPr>
          <p:cNvSpPr>
            <a:spLocks noGrp="1"/>
          </p:cNvSpPr>
          <p:nvPr/>
        </p:nvSpPr>
        <p:spPr>
          <a:xfrm>
            <a:off x="886460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Visibilite limitee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632DD3-4F44-4E6C-B0CA-D5F51B41BF2E}"/>
              </a:ext>
            </a:extLst>
          </p:cNvPr>
          <p:cNvSpPr>
            <a:spLocks noGrp="1"/>
          </p:cNvSpPr>
          <p:nvPr/>
        </p:nvSpPr>
        <p:spPr>
          <a:xfrm>
            <a:off x="825500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Les indicateurs restent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disperses, ce qui complique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la decision et le suivi en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temps reel.</a:t>
            </a:r>
          </a:p>
        </p:txBody>
      </p:sp>
    </p:spTree>
    <p:extLst>
      <p:ext uri="{BB962C8B-B14F-4D97-AF65-F5344CB8AC3E}">
        <p14:creationId xmlns:p14="http://schemas.microsoft.com/office/powerpoint/2010/main" val="198548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7A6270-210E-422B-8997-24DA59FB0B77}"/>
              </a:ext>
            </a:extLst>
          </p:cNvPr>
          <p:cNvSpPr>
            <a:spLocks noGrp="1"/>
          </p:cNvSpPr>
          <p:nvPr/>
        </p:nvSpPr>
        <p:spPr>
          <a:xfrm>
            <a:off x="10496550" y="0"/>
            <a:ext cx="1695450" cy="6858000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983C87C1-7EA6-4DAA-B74E-33CBA090AF29}"/>
              </a:ext>
            </a:extLst>
          </p:cNvPr>
          <p:cNvSpPr>
            <a:spLocks noGrp="1"/>
          </p:cNvSpPr>
          <p:nvPr/>
        </p:nvSpPr>
        <p:spPr>
          <a:xfrm>
            <a:off x="9810750" y="-495300"/>
            <a:ext cx="2476500" cy="2476500"/>
          </a:xfrm>
          <a:prstGeom prst="ellipse">
            <a:avLst/>
          </a:prstGeom>
          <a:solidFill>
            <a:srgbClr val="F0A44B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C1DB147-837B-4859-AA64-6EDA57E96340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2095500" cy="2095500"/>
          </a:xfrm>
          <a:prstGeom prst="ellipse">
            <a:avLst/>
          </a:prstGeom>
          <a:solidFill>
            <a:srgbClr val="40A0D8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DBBBDA6-4BC5-4FF2-9EAF-94522F145FE7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286000" cy="2286000"/>
          </a:xfrm>
          <a:prstGeom prst="ellipse">
            <a:avLst/>
          </a:prstGeom>
          <a:solidFill>
            <a:srgbClr val="DCE6F4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F87412-3375-4170-A86E-AD6ECA4D5C8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1189F26-3FF0-48D0-BE4A-2BAA6757A517}"/>
              </a:ext>
            </a:extLst>
          </p:cNvPr>
          <p:cNvSpPr>
            <a:spLocks noGrp="1"/>
          </p:cNvSpPr>
          <p:nvPr/>
        </p:nvSpPr>
        <p:spPr>
          <a:xfrm>
            <a:off x="10658475" y="781050"/>
            <a:ext cx="8953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44200" y="866775"/>
            <a:ext cx="723900" cy="723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CFA886-03AB-4FAD-85F9-22AEF2B7B0F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5D3411-04C0-4792-A4C3-D966A9FAD21F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 / 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2B72B7-8B43-41D3-BED6-BB8BCDE1059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A8F6A2F-19C6-4D0A-8651-7067013EE426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71450" cy="171450"/>
          </a:xfrm>
          <a:prstGeom prst="ellipse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B7550A-D99C-412C-820B-C3F38E6863C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La reponse : un ERP transversal et modulaire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6D622C-5674-440F-8E2F-58D9538CD53E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Le projet relie les fonctions critiques dans un seul systeme, avec une architecture separee par domaines.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C9A26DD-8659-4276-91C1-609D1AACBE7E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3143250" cy="1733550"/>
          </a:xfrm>
          <a:prstGeom prst="roundRect">
            <a:avLst>
              <a:gd name="adj" fmla="val 4396"/>
            </a:avLst>
          </a:prstGeom>
          <a:solidFill>
            <a:srgbClr val="FFFFFF">
              <a:alpha val="95686"/>
            </a:srgbClr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3166DD-7D74-4969-8FB1-FC4F20340EDA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3143250" cy="66675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ED395E-32F4-4514-A531-09C1AEE96920}"/>
              </a:ext>
            </a:extLst>
          </p:cNvPr>
          <p:cNvSpPr>
            <a:spLocks noGrp="1"/>
          </p:cNvSpPr>
          <p:nvPr/>
        </p:nvSpPr>
        <p:spPr>
          <a:xfrm>
            <a:off x="1085850" y="39624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0195F-452B-43A5-8885-55D96AB471B2}"/>
              </a:ext>
            </a:extLst>
          </p:cNvPr>
          <p:cNvSpPr>
            <a:spLocks noGrp="1"/>
          </p:cNvSpPr>
          <p:nvPr/>
        </p:nvSpPr>
        <p:spPr>
          <a:xfrm>
            <a:off x="1104900" y="45148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plateforme unique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ED8CBD-3A9A-4C82-BB61-473A230C9E56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Acces centralise et parcours unifie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FA8C742-70C0-44F0-937F-C26919D89BFE}"/>
              </a:ext>
            </a:extLst>
          </p:cNvPr>
          <p:cNvSpPr>
            <a:spLocks noGrp="1"/>
          </p:cNvSpPr>
          <p:nvPr/>
        </p:nvSpPr>
        <p:spPr>
          <a:xfrm>
            <a:off x="4400550" y="3733800"/>
            <a:ext cx="3143250" cy="1733550"/>
          </a:xfrm>
          <a:prstGeom prst="roundRect">
            <a:avLst>
              <a:gd name="adj" fmla="val 4396"/>
            </a:avLst>
          </a:prstGeom>
          <a:solidFill>
            <a:srgbClr val="FFFFFF">
              <a:alpha val="95686"/>
            </a:srgbClr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03042F-E468-4BEB-9C8C-9B077839425F}"/>
              </a:ext>
            </a:extLst>
          </p:cNvPr>
          <p:cNvSpPr>
            <a:spLocks noGrp="1"/>
          </p:cNvSpPr>
          <p:nvPr/>
        </p:nvSpPr>
        <p:spPr>
          <a:xfrm>
            <a:off x="4400550" y="3733800"/>
            <a:ext cx="3143250" cy="66675"/>
          </a:xfrm>
          <a:prstGeom prst="rect">
            <a:avLst/>
          </a:prstGeom>
          <a:solidFill>
            <a:srgbClr val="40A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B0B982-2478-4F20-B87A-A778AF16B2E8}"/>
              </a:ext>
            </a:extLst>
          </p:cNvPr>
          <p:cNvSpPr>
            <a:spLocks noGrp="1"/>
          </p:cNvSpPr>
          <p:nvPr/>
        </p:nvSpPr>
        <p:spPr>
          <a:xfrm>
            <a:off x="4610100" y="39624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C3A680-7B39-4406-8E55-BAD0E59E32CD}"/>
              </a:ext>
            </a:extLst>
          </p:cNvPr>
          <p:cNvSpPr>
            <a:spLocks noGrp="1"/>
          </p:cNvSpPr>
          <p:nvPr/>
        </p:nvSpPr>
        <p:spPr>
          <a:xfrm>
            <a:off x="4629150" y="45148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microservices metier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F93AA1-F449-493D-BB71-45260C86431A}"/>
              </a:ext>
            </a:extLst>
          </p:cNvPr>
          <p:cNvSpPr>
            <a:spLocks noGrp="1"/>
          </p:cNvSpPr>
          <p:nvPr/>
        </p:nvSpPr>
        <p:spPr>
          <a:xfrm>
            <a:off x="4629150" y="50673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Domaines separes et evolutifs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9862171C-6FDE-4A1E-9EA0-F42BBBF0466A}"/>
              </a:ext>
            </a:extLst>
          </p:cNvPr>
          <p:cNvSpPr>
            <a:spLocks noGrp="1"/>
          </p:cNvSpPr>
          <p:nvPr/>
        </p:nvSpPr>
        <p:spPr>
          <a:xfrm>
            <a:off x="7924800" y="3733800"/>
            <a:ext cx="3143250" cy="1733550"/>
          </a:xfrm>
          <a:prstGeom prst="roundRect">
            <a:avLst>
              <a:gd name="adj" fmla="val 4396"/>
            </a:avLst>
          </a:prstGeom>
          <a:solidFill>
            <a:srgbClr val="FFFFFF">
              <a:alpha val="95686"/>
            </a:srgbClr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7AAD8A-A261-468C-84FF-D8C7BCFE07F3}"/>
              </a:ext>
            </a:extLst>
          </p:cNvPr>
          <p:cNvSpPr>
            <a:spLocks noGrp="1"/>
          </p:cNvSpPr>
          <p:nvPr/>
        </p:nvSpPr>
        <p:spPr>
          <a:xfrm>
            <a:off x="7924800" y="3733800"/>
            <a:ext cx="3143250" cy="66675"/>
          </a:xfrm>
          <a:prstGeom prst="rect">
            <a:avLst/>
          </a:prstGeom>
          <a:solidFill>
            <a:srgbClr val="1F6F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69031E-AFE9-4A35-A52E-4EB4A380ED01}"/>
              </a:ext>
            </a:extLst>
          </p:cNvPr>
          <p:cNvSpPr>
            <a:spLocks noGrp="1"/>
          </p:cNvSpPr>
          <p:nvPr/>
        </p:nvSpPr>
        <p:spPr>
          <a:xfrm>
            <a:off x="8134350" y="39624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360°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EB059A-C321-40C6-9DDA-2B25870404ED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vision activite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7EECBD-05C4-4378-90E8-5B43DCC6C0CF}"/>
              </a:ext>
            </a:extLst>
          </p:cNvPr>
          <p:cNvSpPr>
            <a:spLocks noGrp="1"/>
          </p:cNvSpPr>
          <p:nvPr/>
        </p:nvSpPr>
        <p:spPr>
          <a:xfrm>
            <a:off x="8153400" y="50673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Du prospect au reporting</a:t>
            </a:r>
          </a:p>
        </p:txBody>
      </p:sp>
    </p:spTree>
    <p:extLst>
      <p:ext uri="{BB962C8B-B14F-4D97-AF65-F5344CB8AC3E}">
        <p14:creationId xmlns:p14="http://schemas.microsoft.com/office/powerpoint/2010/main" val="153662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1D104F-8861-4585-8281-1C0B241F7949}"/>
              </a:ext>
            </a:extLst>
          </p:cNvPr>
          <p:cNvSpPr>
            <a:spLocks noGrp="1"/>
          </p:cNvSpPr>
          <p:nvPr/>
        </p:nvSpPr>
        <p:spPr>
          <a:xfrm>
            <a:off x="10496550" y="0"/>
            <a:ext cx="1695450" cy="6858000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FC18EA4-0A0D-43A6-8815-F8433312D789}"/>
              </a:ext>
            </a:extLst>
          </p:cNvPr>
          <p:cNvSpPr>
            <a:spLocks noGrp="1"/>
          </p:cNvSpPr>
          <p:nvPr/>
        </p:nvSpPr>
        <p:spPr>
          <a:xfrm>
            <a:off x="9810750" y="-495300"/>
            <a:ext cx="2476500" cy="2476500"/>
          </a:xfrm>
          <a:prstGeom prst="ellipse">
            <a:avLst/>
          </a:prstGeom>
          <a:solidFill>
            <a:srgbClr val="F0A44B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EDB03B8-1D73-4743-83BE-FA3DE0E5575A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2095500" cy="2095500"/>
          </a:xfrm>
          <a:prstGeom prst="ellipse">
            <a:avLst/>
          </a:prstGeom>
          <a:solidFill>
            <a:srgbClr val="40A0D8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309E6E0-95B0-421A-8A27-67A3D6D34156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286000" cy="2286000"/>
          </a:xfrm>
          <a:prstGeom prst="ellipse">
            <a:avLst/>
          </a:prstGeom>
          <a:solidFill>
            <a:srgbClr val="DCE6F4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492449-8A3A-4E8F-8DE6-A9B73145A3A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9F80699-866E-491C-880B-29B3C4821BD6}"/>
              </a:ext>
            </a:extLst>
          </p:cNvPr>
          <p:cNvSpPr>
            <a:spLocks noGrp="1"/>
          </p:cNvSpPr>
          <p:nvPr/>
        </p:nvSpPr>
        <p:spPr>
          <a:xfrm>
            <a:off x="10658475" y="781050"/>
            <a:ext cx="8953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44200" y="866775"/>
            <a:ext cx="723900" cy="723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E5CEE2-9038-49A3-A530-074A26815B8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MODULES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297045-6978-4728-AC8F-1E294123FA8F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 / 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6CD2C5-23C4-417F-BE29-A2C897CBCF4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356D6B8-7146-4211-AF4A-C9933A65DF0B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71450" cy="171450"/>
          </a:xfrm>
          <a:prstGeom prst="ellipse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0B94F1-E383-48C2-8763-2F05C9CA54C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Une couverture fonctionnelle tres large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CC473-A932-49F6-A38F-8AB62BAE09DC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La plateforme accompagne l'entreprise sur les fonctions support comme sur les activites operationnelles.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DC849E6-6670-476A-9835-1D1086063992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7FCEF1-5FF0-49B2-9541-A68B8ACCAEF7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E2A46F3-FD2C-4351-A125-85D8ABD2437C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2AD783-95F7-4F53-AE15-106504E74C1F}"/>
              </a:ext>
            </a:extLst>
          </p:cNvPr>
          <p:cNvSpPr>
            <a:spLocks noGrp="1"/>
          </p:cNvSpPr>
          <p:nvPr/>
        </p:nvSpPr>
        <p:spPr>
          <a:xfrm>
            <a:off x="1162050" y="3895725"/>
            <a:ext cx="57150" cy="1143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84822C-6FEC-4AA3-A95D-A5E6E7FAE44E}"/>
              </a:ext>
            </a:extLst>
          </p:cNvPr>
          <p:cNvSpPr>
            <a:spLocks noGrp="1"/>
          </p:cNvSpPr>
          <p:nvPr/>
        </p:nvSpPr>
        <p:spPr>
          <a:xfrm>
            <a:off x="1247775" y="3819525"/>
            <a:ext cx="57150" cy="1905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EF2534-3923-422B-B497-D39121144295}"/>
              </a:ext>
            </a:extLst>
          </p:cNvPr>
          <p:cNvSpPr>
            <a:spLocks noGrp="1"/>
          </p:cNvSpPr>
          <p:nvPr/>
        </p:nvSpPr>
        <p:spPr>
          <a:xfrm>
            <a:off x="1333500" y="3752850"/>
            <a:ext cx="57150" cy="257175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2CE588-B8D5-4A06-AB64-765FDDF40263}"/>
              </a:ext>
            </a:extLst>
          </p:cNvPr>
          <p:cNvSpPr>
            <a:spLocks noGrp="1"/>
          </p:cNvSpPr>
          <p:nvPr/>
        </p:nvSpPr>
        <p:spPr>
          <a:xfrm>
            <a:off x="163830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Gestion &amp; controle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28DD20-48EF-4CE6-822D-72BE87F5E972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Authentification, roles,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permissions, audit,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notifications et tableaux de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bord.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B9B2457-6F05-42A8-BD1F-5BF418B3EBA6}"/>
              </a:ext>
            </a:extLst>
          </p:cNvPr>
          <p:cNvSpPr>
            <a:spLocks noGrp="1"/>
          </p:cNvSpPr>
          <p:nvPr/>
        </p:nvSpPr>
        <p:spPr>
          <a:xfrm>
            <a:off x="441325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FAA814-AAFF-407C-AE89-EF88400DEDFE}"/>
              </a:ext>
            </a:extLst>
          </p:cNvPr>
          <p:cNvSpPr>
            <a:spLocks noGrp="1"/>
          </p:cNvSpPr>
          <p:nvPr/>
        </p:nvSpPr>
        <p:spPr>
          <a:xfrm>
            <a:off x="441325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B9DB683E-8A63-4368-89AB-8E4251D23CA9}"/>
              </a:ext>
            </a:extLst>
          </p:cNvPr>
          <p:cNvSpPr>
            <a:spLocks noGrp="1"/>
          </p:cNvSpPr>
          <p:nvPr/>
        </p:nvSpPr>
        <p:spPr>
          <a:xfrm>
            <a:off x="462280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714F9B95-2137-4049-BB41-8B1692E08FFF}"/>
              </a:ext>
            </a:extLst>
          </p:cNvPr>
          <p:cNvSpPr>
            <a:spLocks noGrp="1"/>
          </p:cNvSpPr>
          <p:nvPr/>
        </p:nvSpPr>
        <p:spPr>
          <a:xfrm>
            <a:off x="4746625" y="3790950"/>
            <a:ext cx="95250" cy="95250"/>
          </a:xfrm>
          <a:prstGeom prst="ellipse">
            <a:avLst/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F45CC59-D314-422B-A758-92D958402A23}"/>
              </a:ext>
            </a:extLst>
          </p:cNvPr>
          <p:cNvSpPr>
            <a:spLocks noGrp="1"/>
          </p:cNvSpPr>
          <p:nvPr/>
        </p:nvSpPr>
        <p:spPr>
          <a:xfrm>
            <a:off x="4918075" y="3876675"/>
            <a:ext cx="95250" cy="95250"/>
          </a:xfrm>
          <a:prstGeom prst="ellipse">
            <a:avLst/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25A10C-24D8-49DC-93BB-5B3D0DCBE519}"/>
              </a:ext>
            </a:extLst>
          </p:cNvPr>
          <p:cNvSpPr>
            <a:spLocks noGrp="1"/>
          </p:cNvSpPr>
          <p:nvPr/>
        </p:nvSpPr>
        <p:spPr>
          <a:xfrm>
            <a:off x="4832350" y="3857625"/>
            <a:ext cx="180975" cy="28575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FFC168-2A81-4343-88D4-E378339A6467}"/>
              </a:ext>
            </a:extLst>
          </p:cNvPr>
          <p:cNvSpPr>
            <a:spLocks noGrp="1"/>
          </p:cNvSpPr>
          <p:nvPr/>
        </p:nvSpPr>
        <p:spPr>
          <a:xfrm>
            <a:off x="525145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Developpement business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BA77DC-7E84-4AA0-822F-18A05E3610E3}"/>
              </a:ext>
            </a:extLst>
          </p:cNvPr>
          <p:cNvSpPr>
            <a:spLocks noGrp="1"/>
          </p:cNvSpPr>
          <p:nvPr/>
        </p:nvSpPr>
        <p:spPr>
          <a:xfrm>
            <a:off x="464185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Prospection, CRM, devis,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projets et suivi de la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relation client.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08EC68A2-3998-405B-BE6C-3371A93DB5E7}"/>
              </a:ext>
            </a:extLst>
          </p:cNvPr>
          <p:cNvSpPr>
            <a:spLocks noGrp="1"/>
          </p:cNvSpPr>
          <p:nvPr/>
        </p:nvSpPr>
        <p:spPr>
          <a:xfrm>
            <a:off x="802640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32625E-225F-4F96-B748-B814D292BC20}"/>
              </a:ext>
            </a:extLst>
          </p:cNvPr>
          <p:cNvSpPr>
            <a:spLocks noGrp="1"/>
          </p:cNvSpPr>
          <p:nvPr/>
        </p:nvSpPr>
        <p:spPr>
          <a:xfrm>
            <a:off x="802640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7E6CDBA1-0FD7-4A63-8C74-E84B653C4011}"/>
              </a:ext>
            </a:extLst>
          </p:cNvPr>
          <p:cNvSpPr>
            <a:spLocks noGrp="1"/>
          </p:cNvSpPr>
          <p:nvPr/>
        </p:nvSpPr>
        <p:spPr>
          <a:xfrm>
            <a:off x="823595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7E7C3E57-6381-4133-BE77-5EFB2EF20D12}"/>
              </a:ext>
            </a:extLst>
          </p:cNvPr>
          <p:cNvSpPr>
            <a:spLocks noGrp="1"/>
          </p:cNvSpPr>
          <p:nvPr/>
        </p:nvSpPr>
        <p:spPr>
          <a:xfrm>
            <a:off x="8359775" y="37623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712CC67C-70D3-4665-8767-3E141E69D948}"/>
              </a:ext>
            </a:extLst>
          </p:cNvPr>
          <p:cNvSpPr>
            <a:spLocks noGrp="1"/>
          </p:cNvSpPr>
          <p:nvPr/>
        </p:nvSpPr>
        <p:spPr>
          <a:xfrm>
            <a:off x="8407400" y="38481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40A0D8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55E01BA0-57B0-4BF5-AF89-E5FD1F601BB1}"/>
              </a:ext>
            </a:extLst>
          </p:cNvPr>
          <p:cNvSpPr>
            <a:spLocks noGrp="1"/>
          </p:cNvSpPr>
          <p:nvPr/>
        </p:nvSpPr>
        <p:spPr>
          <a:xfrm>
            <a:off x="8455025" y="39338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1F6FAE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D771D8-692C-45FD-8457-F223D39EB298}"/>
              </a:ext>
            </a:extLst>
          </p:cNvPr>
          <p:cNvSpPr>
            <a:spLocks noGrp="1"/>
          </p:cNvSpPr>
          <p:nvPr/>
        </p:nvSpPr>
        <p:spPr>
          <a:xfrm>
            <a:off x="886460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Operations &amp; support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707C53-4F23-4ADF-980F-4C0D452277DC}"/>
              </a:ext>
            </a:extLst>
          </p:cNvPr>
          <p:cNvSpPr>
            <a:spLocks noGrp="1"/>
          </p:cNvSpPr>
          <p:nvPr/>
        </p:nvSpPr>
        <p:spPr>
          <a:xfrm>
            <a:off x="825500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Achats, stock, technique,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RH, paie, comptabilite et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tresorerie.</a:t>
            </a:r>
          </a:p>
        </p:txBody>
      </p:sp>
    </p:spTree>
    <p:extLst>
      <p:ext uri="{BB962C8B-B14F-4D97-AF65-F5344CB8AC3E}">
        <p14:creationId xmlns:p14="http://schemas.microsoft.com/office/powerpoint/2010/main" val="36906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113228-B825-4581-9286-4A844A447EC7}"/>
              </a:ext>
            </a:extLst>
          </p:cNvPr>
          <p:cNvSpPr>
            <a:spLocks noGrp="1"/>
          </p:cNvSpPr>
          <p:nvPr/>
        </p:nvSpPr>
        <p:spPr>
          <a:xfrm>
            <a:off x="10496550" y="0"/>
            <a:ext cx="1695450" cy="6858000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D1C6948-9F68-4E2C-A9B9-AE813AD663F8}"/>
              </a:ext>
            </a:extLst>
          </p:cNvPr>
          <p:cNvSpPr>
            <a:spLocks noGrp="1"/>
          </p:cNvSpPr>
          <p:nvPr/>
        </p:nvSpPr>
        <p:spPr>
          <a:xfrm>
            <a:off x="9810750" y="-495300"/>
            <a:ext cx="2476500" cy="2476500"/>
          </a:xfrm>
          <a:prstGeom prst="ellipse">
            <a:avLst/>
          </a:prstGeom>
          <a:solidFill>
            <a:srgbClr val="F0A44B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208DC25-BFAD-47ED-8E68-9ED7317DCA4D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2095500" cy="2095500"/>
          </a:xfrm>
          <a:prstGeom prst="ellipse">
            <a:avLst/>
          </a:prstGeom>
          <a:solidFill>
            <a:srgbClr val="40A0D8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D8B42A3-C8AC-4E68-B596-39C1B09CBBB5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286000" cy="2286000"/>
          </a:xfrm>
          <a:prstGeom prst="ellipse">
            <a:avLst/>
          </a:prstGeom>
          <a:solidFill>
            <a:srgbClr val="DCE6F4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DB8B4-DF4C-44EE-A278-41D22D8241C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9AA1600-8BD5-4416-B4B8-4BC869EB2054}"/>
              </a:ext>
            </a:extLst>
          </p:cNvPr>
          <p:cNvSpPr>
            <a:spLocks noGrp="1"/>
          </p:cNvSpPr>
          <p:nvPr/>
        </p:nvSpPr>
        <p:spPr>
          <a:xfrm>
            <a:off x="10658475" y="781050"/>
            <a:ext cx="8953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44200" y="866775"/>
            <a:ext cx="723900" cy="723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45C5EC-5351-4D80-8D9C-7CD77C08994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ARCHITECTURE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D675FF-97D2-4E96-AB26-8B4C25F37DF4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 / 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31A1EC-E1D9-416F-8650-26BA1F62467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F6994E8-0857-4817-A28E-1942724BAB25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71450" cy="171450"/>
          </a:xfrm>
          <a:prstGeom prst="ellipse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BC383-2ECC-41F5-8B47-D1B5D5B31D2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Une architecture moderne, modulaire et evolutive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EFEC96-EC13-446A-AF7C-339FB350A127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Le choix technique privilegie la separation des responsabilites et la maintenabilite.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BDE2036-D36D-4C66-9CBC-194549A898A0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FF876B-6B2F-4682-B9B2-46C8FF0E05A9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90D3464-8524-45B3-B350-DA58C27109B5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4AFB10-441D-41B2-9625-D1F2718F84DE}"/>
              </a:ext>
            </a:extLst>
          </p:cNvPr>
          <p:cNvSpPr>
            <a:spLocks noGrp="1"/>
          </p:cNvSpPr>
          <p:nvPr/>
        </p:nvSpPr>
        <p:spPr>
          <a:xfrm>
            <a:off x="1162050" y="3895725"/>
            <a:ext cx="57150" cy="1143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C763DB-AC4C-429E-844B-03269BA4CAC4}"/>
              </a:ext>
            </a:extLst>
          </p:cNvPr>
          <p:cNvSpPr>
            <a:spLocks noGrp="1"/>
          </p:cNvSpPr>
          <p:nvPr/>
        </p:nvSpPr>
        <p:spPr>
          <a:xfrm>
            <a:off x="1247775" y="3819525"/>
            <a:ext cx="57150" cy="1905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31C38-4A33-45A1-99E2-14BC9CF3359F}"/>
              </a:ext>
            </a:extLst>
          </p:cNvPr>
          <p:cNvSpPr>
            <a:spLocks noGrp="1"/>
          </p:cNvSpPr>
          <p:nvPr/>
        </p:nvSpPr>
        <p:spPr>
          <a:xfrm>
            <a:off x="1333500" y="3752850"/>
            <a:ext cx="57150" cy="257175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603CD6-5BCC-47A0-816B-94812F51CD57}"/>
              </a:ext>
            </a:extLst>
          </p:cNvPr>
          <p:cNvSpPr>
            <a:spLocks noGrp="1"/>
          </p:cNvSpPr>
          <p:nvPr/>
        </p:nvSpPr>
        <p:spPr>
          <a:xfrm>
            <a:off x="163830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Experience utilisateur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BB3428-EF67-46FD-B3CD-768F45E2F58D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Frontend Next.js 16, React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19 et TypeScript pour une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interface unique.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D89E9967-0479-41F3-8E48-3C97A3A2EF08}"/>
              </a:ext>
            </a:extLst>
          </p:cNvPr>
          <p:cNvSpPr>
            <a:spLocks noGrp="1"/>
          </p:cNvSpPr>
          <p:nvPr/>
        </p:nvSpPr>
        <p:spPr>
          <a:xfrm>
            <a:off x="441325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74F502-DCB1-4E0A-9424-15BA29123C2A}"/>
              </a:ext>
            </a:extLst>
          </p:cNvPr>
          <p:cNvSpPr>
            <a:spLocks noGrp="1"/>
          </p:cNvSpPr>
          <p:nvPr/>
        </p:nvSpPr>
        <p:spPr>
          <a:xfrm>
            <a:off x="441325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32F92659-A417-4A56-B43E-0B131DA63962}"/>
              </a:ext>
            </a:extLst>
          </p:cNvPr>
          <p:cNvSpPr>
            <a:spLocks noGrp="1"/>
          </p:cNvSpPr>
          <p:nvPr/>
        </p:nvSpPr>
        <p:spPr>
          <a:xfrm>
            <a:off x="462280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241AE56-38F0-4939-8371-3B91A59CE049}"/>
              </a:ext>
            </a:extLst>
          </p:cNvPr>
          <p:cNvSpPr>
            <a:spLocks noGrp="1"/>
          </p:cNvSpPr>
          <p:nvPr/>
        </p:nvSpPr>
        <p:spPr>
          <a:xfrm>
            <a:off x="4746625" y="3790950"/>
            <a:ext cx="95250" cy="95250"/>
          </a:xfrm>
          <a:prstGeom prst="ellipse">
            <a:avLst/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53835976-833C-46E3-9D69-42AF80C6C655}"/>
              </a:ext>
            </a:extLst>
          </p:cNvPr>
          <p:cNvSpPr>
            <a:spLocks noGrp="1"/>
          </p:cNvSpPr>
          <p:nvPr/>
        </p:nvSpPr>
        <p:spPr>
          <a:xfrm>
            <a:off x="4918075" y="3876675"/>
            <a:ext cx="95250" cy="95250"/>
          </a:xfrm>
          <a:prstGeom prst="ellipse">
            <a:avLst/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6FFDDF-6183-4699-B90C-65A8E666CB09}"/>
              </a:ext>
            </a:extLst>
          </p:cNvPr>
          <p:cNvSpPr>
            <a:spLocks noGrp="1"/>
          </p:cNvSpPr>
          <p:nvPr/>
        </p:nvSpPr>
        <p:spPr>
          <a:xfrm>
            <a:off x="4832350" y="3857625"/>
            <a:ext cx="180975" cy="28575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E47DF1-CE03-417C-A599-64F674D8BF13}"/>
              </a:ext>
            </a:extLst>
          </p:cNvPr>
          <p:cNvSpPr>
            <a:spLocks noGrp="1"/>
          </p:cNvSpPr>
          <p:nvPr/>
        </p:nvSpPr>
        <p:spPr>
          <a:xfrm>
            <a:off x="525145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Orchestration API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F674FE-F403-4E95-ACFC-CD2ED5C7592D}"/>
              </a:ext>
            </a:extLst>
          </p:cNvPr>
          <p:cNvSpPr>
            <a:spLocks noGrp="1"/>
          </p:cNvSpPr>
          <p:nvPr/>
        </p:nvSpPr>
        <p:spPr>
          <a:xfrm>
            <a:off x="464185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Un API Gateway centralise le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routage, l'authentification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et les controles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transverses.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9CFEC8D6-5DC8-4CF8-992F-0DDB36393A08}"/>
              </a:ext>
            </a:extLst>
          </p:cNvPr>
          <p:cNvSpPr>
            <a:spLocks noGrp="1"/>
          </p:cNvSpPr>
          <p:nvPr/>
        </p:nvSpPr>
        <p:spPr>
          <a:xfrm>
            <a:off x="802640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F2ABE5-B3F3-4A69-A54B-E0D6ABD884A8}"/>
              </a:ext>
            </a:extLst>
          </p:cNvPr>
          <p:cNvSpPr>
            <a:spLocks noGrp="1"/>
          </p:cNvSpPr>
          <p:nvPr/>
        </p:nvSpPr>
        <p:spPr>
          <a:xfrm>
            <a:off x="802640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FEF0F14-697B-4D88-9255-ACAE3FE9DBD7}"/>
              </a:ext>
            </a:extLst>
          </p:cNvPr>
          <p:cNvSpPr>
            <a:spLocks noGrp="1"/>
          </p:cNvSpPr>
          <p:nvPr/>
        </p:nvSpPr>
        <p:spPr>
          <a:xfrm>
            <a:off x="823595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0739D2A0-A5EF-47CE-A1AF-54F18805EB7A}"/>
              </a:ext>
            </a:extLst>
          </p:cNvPr>
          <p:cNvSpPr>
            <a:spLocks noGrp="1"/>
          </p:cNvSpPr>
          <p:nvPr/>
        </p:nvSpPr>
        <p:spPr>
          <a:xfrm>
            <a:off x="8359775" y="37623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D7DA67B-7152-4388-B2C0-EBE7F30EDB0D}"/>
              </a:ext>
            </a:extLst>
          </p:cNvPr>
          <p:cNvSpPr>
            <a:spLocks noGrp="1"/>
          </p:cNvSpPr>
          <p:nvPr/>
        </p:nvSpPr>
        <p:spPr>
          <a:xfrm>
            <a:off x="8407400" y="38481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40A0D8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5750F19A-1D76-43F2-92E8-059046BDE78A}"/>
              </a:ext>
            </a:extLst>
          </p:cNvPr>
          <p:cNvSpPr>
            <a:spLocks noGrp="1"/>
          </p:cNvSpPr>
          <p:nvPr/>
        </p:nvSpPr>
        <p:spPr>
          <a:xfrm>
            <a:off x="8455025" y="39338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1F6FAE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EC9BA2-F6E6-4EAF-A1E5-ED2C53505D94}"/>
              </a:ext>
            </a:extLst>
          </p:cNvPr>
          <p:cNvSpPr>
            <a:spLocks noGrp="1"/>
          </p:cNvSpPr>
          <p:nvPr/>
        </p:nvSpPr>
        <p:spPr>
          <a:xfrm>
            <a:off x="886460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Donnees &amp; infra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5099AD-50F3-48DE-AF2C-5858E7C47374}"/>
              </a:ext>
            </a:extLst>
          </p:cNvPr>
          <p:cNvSpPr>
            <a:spLocks noGrp="1"/>
          </p:cNvSpPr>
          <p:nvPr/>
        </p:nvSpPr>
        <p:spPr>
          <a:xfrm>
            <a:off x="825500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PostgreSQL, Prisma, Redis,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MinIO, Docker Compose et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Nginx soutiennent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l'ensemble.</a:t>
            </a:r>
          </a:p>
        </p:txBody>
      </p:sp>
    </p:spTree>
    <p:extLst>
      <p:ext uri="{BB962C8B-B14F-4D97-AF65-F5344CB8AC3E}">
        <p14:creationId xmlns:p14="http://schemas.microsoft.com/office/powerpoint/2010/main" val="56225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01EFF-6D22-427C-AF92-3A3454C0A834}"/>
              </a:ext>
            </a:extLst>
          </p:cNvPr>
          <p:cNvSpPr>
            <a:spLocks noGrp="1"/>
          </p:cNvSpPr>
          <p:nvPr/>
        </p:nvSpPr>
        <p:spPr>
          <a:xfrm>
            <a:off x="10496550" y="0"/>
            <a:ext cx="1695450" cy="6858000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1A14D78-B062-41F0-8FCE-2795944E92BA}"/>
              </a:ext>
            </a:extLst>
          </p:cNvPr>
          <p:cNvSpPr>
            <a:spLocks noGrp="1"/>
          </p:cNvSpPr>
          <p:nvPr/>
        </p:nvSpPr>
        <p:spPr>
          <a:xfrm>
            <a:off x="9810750" y="-495300"/>
            <a:ext cx="2476500" cy="2476500"/>
          </a:xfrm>
          <a:prstGeom prst="ellipse">
            <a:avLst/>
          </a:prstGeom>
          <a:solidFill>
            <a:srgbClr val="F0A44B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FF70F74-29BC-443F-9E2C-51A4455CD244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2095500" cy="2095500"/>
          </a:xfrm>
          <a:prstGeom prst="ellipse">
            <a:avLst/>
          </a:prstGeom>
          <a:solidFill>
            <a:srgbClr val="40A0D8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FDF1B1A-EE5B-4546-B72D-AFF0523802E6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286000" cy="2286000"/>
          </a:xfrm>
          <a:prstGeom prst="ellipse">
            <a:avLst/>
          </a:prstGeom>
          <a:solidFill>
            <a:srgbClr val="DCE6F4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B1288-7160-46C4-A4D2-CBD0D66CA9E0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65078B8-7A23-481E-98DA-ED9C99B1DA7D}"/>
              </a:ext>
            </a:extLst>
          </p:cNvPr>
          <p:cNvSpPr>
            <a:spLocks noGrp="1"/>
          </p:cNvSpPr>
          <p:nvPr/>
        </p:nvSpPr>
        <p:spPr>
          <a:xfrm>
            <a:off x="10658475" y="781050"/>
            <a:ext cx="8953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44200" y="866775"/>
            <a:ext cx="723900" cy="723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AB895F2-FB75-4EB5-86A1-8008E4043B2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DIFFERENCIATION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DAAA01-1ACB-498A-BBC7-2B3DCD48D1D3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06 / 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2B9BE1-FE2A-4E25-BA5F-C97BAAA05E1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F25B36B-04CD-44E6-A0B8-7FD680D47111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71450" cy="171450"/>
          </a:xfrm>
          <a:prstGeom prst="ellipse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BEBEE5-CE2F-470E-9EB7-AED6A542F64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Ce qui rend le projet differenciant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A8160A-2751-425D-B6DE-B3B05CBF4C19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La solution ne s'arrete pas a des ecrans de gestion ; elle integre de vraies logiques metier.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BFB9B80-C6CE-4710-966C-4613563A2795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B3AE89-AD8E-47BA-B10A-317D0331E717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A8816E0-4415-4E40-A53E-7221AE635D8B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0B8D94-AD82-4D8C-BF3E-05AA79F8D687}"/>
              </a:ext>
            </a:extLst>
          </p:cNvPr>
          <p:cNvSpPr>
            <a:spLocks noGrp="1"/>
          </p:cNvSpPr>
          <p:nvPr/>
        </p:nvSpPr>
        <p:spPr>
          <a:xfrm>
            <a:off x="1162050" y="3895725"/>
            <a:ext cx="57150" cy="1143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DCD9B3-7D84-4D17-8A15-342FE3FD295A}"/>
              </a:ext>
            </a:extLst>
          </p:cNvPr>
          <p:cNvSpPr>
            <a:spLocks noGrp="1"/>
          </p:cNvSpPr>
          <p:nvPr/>
        </p:nvSpPr>
        <p:spPr>
          <a:xfrm>
            <a:off x="1247775" y="3819525"/>
            <a:ext cx="57150" cy="1905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4D03BA-78FB-4DEE-A272-B0D32FC95347}"/>
              </a:ext>
            </a:extLst>
          </p:cNvPr>
          <p:cNvSpPr>
            <a:spLocks noGrp="1"/>
          </p:cNvSpPr>
          <p:nvPr/>
        </p:nvSpPr>
        <p:spPr>
          <a:xfrm>
            <a:off x="1333500" y="3752850"/>
            <a:ext cx="57150" cy="257175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87A1CF-2891-4CDC-BF3F-3602D0D5E716}"/>
              </a:ext>
            </a:extLst>
          </p:cNvPr>
          <p:cNvSpPr>
            <a:spLocks noGrp="1"/>
          </p:cNvSpPr>
          <p:nvPr/>
        </p:nvSpPr>
        <p:spPr>
          <a:xfrm>
            <a:off x="163830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Workflows complets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7ED5CB-98E2-439D-B9ED-802C2C2E9A5F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Achats jusqu'au stock,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prospect jusqu'a la facture,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employe jusqu'au bulletin.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53EC84D-F3CE-4E42-AA60-D3F0B85BA276}"/>
              </a:ext>
            </a:extLst>
          </p:cNvPr>
          <p:cNvSpPr>
            <a:spLocks noGrp="1"/>
          </p:cNvSpPr>
          <p:nvPr/>
        </p:nvSpPr>
        <p:spPr>
          <a:xfrm>
            <a:off x="441325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644DB8-950C-4601-BC61-98BD2B87E8BD}"/>
              </a:ext>
            </a:extLst>
          </p:cNvPr>
          <p:cNvSpPr>
            <a:spLocks noGrp="1"/>
          </p:cNvSpPr>
          <p:nvPr/>
        </p:nvSpPr>
        <p:spPr>
          <a:xfrm>
            <a:off x="441325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561AEC8-E3A2-4B5D-A46C-29A2534FA4A4}"/>
              </a:ext>
            </a:extLst>
          </p:cNvPr>
          <p:cNvSpPr>
            <a:spLocks noGrp="1"/>
          </p:cNvSpPr>
          <p:nvPr/>
        </p:nvSpPr>
        <p:spPr>
          <a:xfrm>
            <a:off x="462280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983B4295-C180-44A2-9B38-B3BE1923EB91}"/>
              </a:ext>
            </a:extLst>
          </p:cNvPr>
          <p:cNvSpPr>
            <a:spLocks noGrp="1"/>
          </p:cNvSpPr>
          <p:nvPr/>
        </p:nvSpPr>
        <p:spPr>
          <a:xfrm>
            <a:off x="4746625" y="3790950"/>
            <a:ext cx="95250" cy="95250"/>
          </a:xfrm>
          <a:prstGeom prst="ellipse">
            <a:avLst/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724CACD-1A5A-4FFC-A756-FBDBF4A82CE6}"/>
              </a:ext>
            </a:extLst>
          </p:cNvPr>
          <p:cNvSpPr>
            <a:spLocks noGrp="1"/>
          </p:cNvSpPr>
          <p:nvPr/>
        </p:nvSpPr>
        <p:spPr>
          <a:xfrm>
            <a:off x="4918075" y="3876675"/>
            <a:ext cx="95250" cy="95250"/>
          </a:xfrm>
          <a:prstGeom prst="ellipse">
            <a:avLst/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119F1D-4295-40BC-850F-9CE3D3C1872A}"/>
              </a:ext>
            </a:extLst>
          </p:cNvPr>
          <p:cNvSpPr>
            <a:spLocks noGrp="1"/>
          </p:cNvSpPr>
          <p:nvPr/>
        </p:nvSpPr>
        <p:spPr>
          <a:xfrm>
            <a:off x="4832350" y="3857625"/>
            <a:ext cx="180975" cy="28575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4FDF02-F71A-472A-A062-77FB0BDC9E72}"/>
              </a:ext>
            </a:extLst>
          </p:cNvPr>
          <p:cNvSpPr>
            <a:spLocks noGrp="1"/>
          </p:cNvSpPr>
          <p:nvPr/>
        </p:nvSpPr>
        <p:spPr>
          <a:xfrm>
            <a:off x="525145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Contexte local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FFD156-6916-4CC0-87B9-ED8E89B7A63A}"/>
              </a:ext>
            </a:extLst>
          </p:cNvPr>
          <p:cNvSpPr>
            <a:spLocks noGrp="1"/>
          </p:cNvSpPr>
          <p:nvPr/>
        </p:nvSpPr>
        <p:spPr>
          <a:xfrm>
            <a:off x="464185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RH et paie adaptees a la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Cote d'Ivoire avec CNPS,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ITS, FDFP, DISA et DASC.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9E804E8E-C764-4D31-9D9B-43C93C43B904}"/>
              </a:ext>
            </a:extLst>
          </p:cNvPr>
          <p:cNvSpPr>
            <a:spLocks noGrp="1"/>
          </p:cNvSpPr>
          <p:nvPr/>
        </p:nvSpPr>
        <p:spPr>
          <a:xfrm>
            <a:off x="802640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4F8B5C7-45ED-46C5-8EA0-2B6D6B6D0546}"/>
              </a:ext>
            </a:extLst>
          </p:cNvPr>
          <p:cNvSpPr>
            <a:spLocks noGrp="1"/>
          </p:cNvSpPr>
          <p:nvPr/>
        </p:nvSpPr>
        <p:spPr>
          <a:xfrm>
            <a:off x="802640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B94320D7-D885-409A-9657-648A4E2044E7}"/>
              </a:ext>
            </a:extLst>
          </p:cNvPr>
          <p:cNvSpPr>
            <a:spLocks noGrp="1"/>
          </p:cNvSpPr>
          <p:nvPr/>
        </p:nvSpPr>
        <p:spPr>
          <a:xfrm>
            <a:off x="823595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F65D555D-FA4E-448D-9FBC-6F5BDE08AA55}"/>
              </a:ext>
            </a:extLst>
          </p:cNvPr>
          <p:cNvSpPr>
            <a:spLocks noGrp="1"/>
          </p:cNvSpPr>
          <p:nvPr/>
        </p:nvSpPr>
        <p:spPr>
          <a:xfrm>
            <a:off x="8359775" y="37623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067F0DF-5343-4768-A348-E4BA19FB830F}"/>
              </a:ext>
            </a:extLst>
          </p:cNvPr>
          <p:cNvSpPr>
            <a:spLocks noGrp="1"/>
          </p:cNvSpPr>
          <p:nvPr/>
        </p:nvSpPr>
        <p:spPr>
          <a:xfrm>
            <a:off x="8407400" y="38481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40A0D8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43ACF195-26B5-4006-A0E6-D8521C61E837}"/>
              </a:ext>
            </a:extLst>
          </p:cNvPr>
          <p:cNvSpPr>
            <a:spLocks noGrp="1"/>
          </p:cNvSpPr>
          <p:nvPr/>
        </p:nvSpPr>
        <p:spPr>
          <a:xfrm>
            <a:off x="8455025" y="39338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1F6FAE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B6DF8A-B9BF-408C-931D-E20E03C80783}"/>
              </a:ext>
            </a:extLst>
          </p:cNvPr>
          <p:cNvSpPr>
            <a:spLocks noGrp="1"/>
          </p:cNvSpPr>
          <p:nvPr/>
        </p:nvSpPr>
        <p:spPr>
          <a:xfrm>
            <a:off x="886460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Gouvernance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1477D3-1E34-4EA7-BD29-000BD8FBACFD}"/>
              </a:ext>
            </a:extLst>
          </p:cNvPr>
          <p:cNvSpPr>
            <a:spLocks noGrp="1"/>
          </p:cNvSpPr>
          <p:nvPr/>
        </p:nvSpPr>
        <p:spPr>
          <a:xfrm>
            <a:off x="825500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Permissions fines, audit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logs et gestion structuree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des acces.</a:t>
            </a:r>
          </a:p>
        </p:txBody>
      </p:sp>
    </p:spTree>
    <p:extLst>
      <p:ext uri="{BB962C8B-B14F-4D97-AF65-F5344CB8AC3E}">
        <p14:creationId xmlns:p14="http://schemas.microsoft.com/office/powerpoint/2010/main" val="76602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4129CA-2A96-40A0-A354-802BB68A13AB}"/>
              </a:ext>
            </a:extLst>
          </p:cNvPr>
          <p:cNvSpPr>
            <a:spLocks noGrp="1"/>
          </p:cNvSpPr>
          <p:nvPr/>
        </p:nvSpPr>
        <p:spPr>
          <a:xfrm>
            <a:off x="10496550" y="0"/>
            <a:ext cx="1695450" cy="6858000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396A78D-1960-420D-840A-AA36A52EA4EC}"/>
              </a:ext>
            </a:extLst>
          </p:cNvPr>
          <p:cNvSpPr>
            <a:spLocks noGrp="1"/>
          </p:cNvSpPr>
          <p:nvPr/>
        </p:nvSpPr>
        <p:spPr>
          <a:xfrm>
            <a:off x="9810750" y="-495300"/>
            <a:ext cx="2476500" cy="2476500"/>
          </a:xfrm>
          <a:prstGeom prst="ellipse">
            <a:avLst/>
          </a:prstGeom>
          <a:solidFill>
            <a:srgbClr val="F0A44B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81AD6B1-5DA9-4BCC-BDA8-9DFECDD0C219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2095500" cy="2095500"/>
          </a:xfrm>
          <a:prstGeom prst="ellipse">
            <a:avLst/>
          </a:prstGeom>
          <a:solidFill>
            <a:srgbClr val="40A0D8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295F599-F422-4B4D-980D-9067CD1AF5C0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286000" cy="2286000"/>
          </a:xfrm>
          <a:prstGeom prst="ellipse">
            <a:avLst/>
          </a:prstGeom>
          <a:solidFill>
            <a:srgbClr val="DCE6F4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2C6A6E-C985-4E29-866C-EC69E90A1DA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171169C-5F58-4681-A98B-E2BD68D80278}"/>
              </a:ext>
            </a:extLst>
          </p:cNvPr>
          <p:cNvSpPr>
            <a:spLocks noGrp="1"/>
          </p:cNvSpPr>
          <p:nvPr/>
        </p:nvSpPr>
        <p:spPr>
          <a:xfrm>
            <a:off x="10658475" y="781050"/>
            <a:ext cx="8953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44200" y="866775"/>
            <a:ext cx="723900" cy="723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7AF049-99C2-4D17-B867-98706472611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AMPLEUR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0E3A7-BEFF-46EE-BC3A-C26FD3EEAC7D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07 / 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7E3605-8506-4CD6-AEC0-6C29CF03A3C5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93A7DB4-8FCD-4626-A851-7D8EADD6F03C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71450" cy="171450"/>
          </a:xfrm>
          <a:prstGeom prst="ellipse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15A31C-313C-49DE-ACA1-CEFD750C5B0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Une base applicative deja structurante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7FF55A-21D9-4856-AE20-8C266F0BB2F3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4803962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 dirty="0" err="1">
                <a:solidFill>
                  <a:srgbClr val="334155"/>
                </a:solidFill>
              </a:rPr>
              <a:t>L'analyse</a:t>
            </a:r>
            <a:r>
              <a:rPr sz="1350" b="0" dirty="0">
                <a:solidFill>
                  <a:srgbClr val="334155"/>
                </a:solidFill>
              </a:rPr>
              <a:t> du depot montre </a:t>
            </a:r>
            <a:r>
              <a:rPr sz="1350" b="0" dirty="0" err="1">
                <a:solidFill>
                  <a:srgbClr val="334155"/>
                </a:solidFill>
              </a:rPr>
              <a:t>une</a:t>
            </a:r>
            <a:r>
              <a:rPr sz="1350" b="0" dirty="0">
                <a:solidFill>
                  <a:srgbClr val="334155"/>
                </a:solidFill>
              </a:rPr>
              <a:t> application de taille significative. Le </a:t>
            </a:r>
            <a:r>
              <a:rPr sz="1350" b="0" dirty="0" err="1">
                <a:solidFill>
                  <a:srgbClr val="334155"/>
                </a:solidFill>
              </a:rPr>
              <a:t>projet</a:t>
            </a:r>
            <a:r>
              <a:rPr sz="1350" b="0" dirty="0">
                <a:solidFill>
                  <a:srgbClr val="334155"/>
                </a:solidFill>
              </a:rPr>
              <a:t> </a:t>
            </a:r>
            <a:r>
              <a:rPr sz="1350" b="0" dirty="0" err="1">
                <a:solidFill>
                  <a:srgbClr val="334155"/>
                </a:solidFill>
              </a:rPr>
              <a:t>compte</a:t>
            </a:r>
            <a:r>
              <a:rPr sz="1350" b="0" dirty="0">
                <a:solidFill>
                  <a:srgbClr val="334155"/>
                </a:solidFill>
              </a:rPr>
              <a:t> </a:t>
            </a:r>
            <a:r>
              <a:rPr sz="1350" b="0" dirty="0" err="1">
                <a:solidFill>
                  <a:srgbClr val="334155"/>
                </a:solidFill>
              </a:rPr>
              <a:t>aussi</a:t>
            </a:r>
            <a:r>
              <a:rPr sz="1350" b="0" dirty="0">
                <a:solidFill>
                  <a:srgbClr val="334155"/>
                </a:solidFill>
              </a:rPr>
              <a:t> 12 microservices et 84 controllers backend.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16E5AEE-5D83-498E-9F08-1402CE06F608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4229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5686"/>
            </a:srgbClr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2B74E-F3A8-441C-851B-4486191147A9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4229100" cy="66675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48A36D-0963-4AA3-999C-CADBCC545F22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381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155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6EE75C-C8BD-4D6F-BA92-F0481765B20A}"/>
              </a:ext>
            </a:extLst>
          </p:cNvPr>
          <p:cNvSpPr>
            <a:spLocks noGrp="1"/>
          </p:cNvSpPr>
          <p:nvPr/>
        </p:nvSpPr>
        <p:spPr>
          <a:xfrm>
            <a:off x="1028700" y="417195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pages frontend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FFE93D-4C35-4C5D-B01B-C92033C6A6AA}"/>
              </a:ext>
            </a:extLst>
          </p:cNvPr>
          <p:cNvSpPr>
            <a:spLocks noGrp="1"/>
          </p:cNvSpPr>
          <p:nvPr/>
        </p:nvSpPr>
        <p:spPr>
          <a:xfrm>
            <a:off x="1028700" y="4419600"/>
            <a:ext cx="3771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fichiers page.tsx detectes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83D5D05-032A-46EB-AC3C-F3041E393204}"/>
              </a:ext>
            </a:extLst>
          </p:cNvPr>
          <p:cNvSpPr>
            <a:spLocks noGrp="1"/>
          </p:cNvSpPr>
          <p:nvPr/>
        </p:nvSpPr>
        <p:spPr>
          <a:xfrm>
            <a:off x="5676900" y="3390900"/>
            <a:ext cx="4229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5686"/>
            </a:srgbClr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CE68B5-67C3-4B98-AD93-C27DD96E8627}"/>
              </a:ext>
            </a:extLst>
          </p:cNvPr>
          <p:cNvSpPr>
            <a:spLocks noGrp="1"/>
          </p:cNvSpPr>
          <p:nvPr/>
        </p:nvSpPr>
        <p:spPr>
          <a:xfrm>
            <a:off x="5676900" y="3390900"/>
            <a:ext cx="4229100" cy="66675"/>
          </a:xfrm>
          <a:prstGeom prst="rect">
            <a:avLst/>
          </a:prstGeom>
          <a:solidFill>
            <a:srgbClr val="40A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D50C2-379B-4FC3-B412-6E43CA0C4182}"/>
              </a:ext>
            </a:extLst>
          </p:cNvPr>
          <p:cNvSpPr>
            <a:spLocks noGrp="1"/>
          </p:cNvSpPr>
          <p:nvPr/>
        </p:nvSpPr>
        <p:spPr>
          <a:xfrm>
            <a:off x="5886450" y="3619500"/>
            <a:ext cx="381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186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C6D72E-DC70-4A22-AFB3-036EE9A5458E}"/>
              </a:ext>
            </a:extLst>
          </p:cNvPr>
          <p:cNvSpPr>
            <a:spLocks noGrp="1"/>
          </p:cNvSpPr>
          <p:nvPr/>
        </p:nvSpPr>
        <p:spPr>
          <a:xfrm>
            <a:off x="5905500" y="417195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composants React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4294EB-5D11-44DC-8637-2D6CF506110D}"/>
              </a:ext>
            </a:extLst>
          </p:cNvPr>
          <p:cNvSpPr>
            <a:spLocks noGrp="1"/>
          </p:cNvSpPr>
          <p:nvPr/>
        </p:nvSpPr>
        <p:spPr>
          <a:xfrm>
            <a:off x="5905500" y="4419600"/>
            <a:ext cx="3771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dans frontend/src/components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EE905FF-5A9F-4661-BA0D-D215568838AA}"/>
              </a:ext>
            </a:extLst>
          </p:cNvPr>
          <p:cNvSpPr>
            <a:spLocks noGrp="1"/>
          </p:cNvSpPr>
          <p:nvPr/>
        </p:nvSpPr>
        <p:spPr>
          <a:xfrm>
            <a:off x="800100" y="5200650"/>
            <a:ext cx="4229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5686"/>
            </a:srgbClr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5FA4C5-4CA2-4577-A075-D39362F6F54A}"/>
              </a:ext>
            </a:extLst>
          </p:cNvPr>
          <p:cNvSpPr>
            <a:spLocks noGrp="1"/>
          </p:cNvSpPr>
          <p:nvPr/>
        </p:nvSpPr>
        <p:spPr>
          <a:xfrm>
            <a:off x="800100" y="5200650"/>
            <a:ext cx="4229100" cy="66675"/>
          </a:xfrm>
          <a:prstGeom prst="rect">
            <a:avLst/>
          </a:prstGeom>
          <a:solidFill>
            <a:srgbClr val="1F6F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996399-EFF1-4242-BBED-DF2B2D888F85}"/>
              </a:ext>
            </a:extLst>
          </p:cNvPr>
          <p:cNvSpPr>
            <a:spLocks noGrp="1"/>
          </p:cNvSpPr>
          <p:nvPr/>
        </p:nvSpPr>
        <p:spPr>
          <a:xfrm>
            <a:off x="1009650" y="5429250"/>
            <a:ext cx="381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92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D598F5-E8ED-4FDE-A5C5-4511EEA40C81}"/>
              </a:ext>
            </a:extLst>
          </p:cNvPr>
          <p:cNvSpPr>
            <a:spLocks noGrp="1"/>
          </p:cNvSpPr>
          <p:nvPr/>
        </p:nvSpPr>
        <p:spPr>
          <a:xfrm>
            <a:off x="1028700" y="598170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routes backend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0CF2E3-5B5E-4FC6-A5E5-D833761D55F5}"/>
              </a:ext>
            </a:extLst>
          </p:cNvPr>
          <p:cNvSpPr>
            <a:spLocks noGrp="1"/>
          </p:cNvSpPr>
          <p:nvPr/>
        </p:nvSpPr>
        <p:spPr>
          <a:xfrm>
            <a:off x="1028700" y="6229350"/>
            <a:ext cx="3771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fichiers *.routes.js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2410E441-74D7-41C8-9087-44CCD58AF056}"/>
              </a:ext>
            </a:extLst>
          </p:cNvPr>
          <p:cNvSpPr>
            <a:spLocks noGrp="1"/>
          </p:cNvSpPr>
          <p:nvPr/>
        </p:nvSpPr>
        <p:spPr>
          <a:xfrm>
            <a:off x="5676900" y="5200650"/>
            <a:ext cx="4229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5686"/>
            </a:srgbClr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5BB7D4-8136-45B1-AE5C-95ECE7D1ABDD}"/>
              </a:ext>
            </a:extLst>
          </p:cNvPr>
          <p:cNvSpPr>
            <a:spLocks noGrp="1"/>
          </p:cNvSpPr>
          <p:nvPr/>
        </p:nvSpPr>
        <p:spPr>
          <a:xfrm>
            <a:off x="5676900" y="5200650"/>
            <a:ext cx="4229100" cy="66675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39992E-72B4-42EE-B511-91ED9CB65514}"/>
              </a:ext>
            </a:extLst>
          </p:cNvPr>
          <p:cNvSpPr>
            <a:spLocks noGrp="1"/>
          </p:cNvSpPr>
          <p:nvPr/>
        </p:nvSpPr>
        <p:spPr>
          <a:xfrm>
            <a:off x="5886450" y="5429250"/>
            <a:ext cx="381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15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53D326-9F59-4DDA-83D1-2595747D5668}"/>
              </a:ext>
            </a:extLst>
          </p:cNvPr>
          <p:cNvSpPr>
            <a:spLocks noGrp="1"/>
          </p:cNvSpPr>
          <p:nvPr/>
        </p:nvSpPr>
        <p:spPr>
          <a:xfrm>
            <a:off x="5905500" y="598170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schemas Prisma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4589EA-D860-4788-863C-B9E2E03F74FC}"/>
              </a:ext>
            </a:extLst>
          </p:cNvPr>
          <p:cNvSpPr>
            <a:spLocks noGrp="1"/>
          </p:cNvSpPr>
          <p:nvPr/>
        </p:nvSpPr>
        <p:spPr>
          <a:xfrm>
            <a:off x="5905500" y="6229350"/>
            <a:ext cx="3771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structures de donnees detectees</a:t>
            </a:r>
          </a:p>
        </p:txBody>
      </p:sp>
    </p:spTree>
    <p:extLst>
      <p:ext uri="{BB962C8B-B14F-4D97-AF65-F5344CB8AC3E}">
        <p14:creationId xmlns:p14="http://schemas.microsoft.com/office/powerpoint/2010/main" val="1781727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2ED04B-F564-4E09-AD1B-E85C6B4866AC}"/>
              </a:ext>
            </a:extLst>
          </p:cNvPr>
          <p:cNvSpPr>
            <a:spLocks noGrp="1"/>
          </p:cNvSpPr>
          <p:nvPr/>
        </p:nvSpPr>
        <p:spPr>
          <a:xfrm>
            <a:off x="10496550" y="0"/>
            <a:ext cx="1695450" cy="6858000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933141EE-A7E1-4ECA-BD22-03D1ACD3236A}"/>
              </a:ext>
            </a:extLst>
          </p:cNvPr>
          <p:cNvSpPr>
            <a:spLocks noGrp="1"/>
          </p:cNvSpPr>
          <p:nvPr/>
        </p:nvSpPr>
        <p:spPr>
          <a:xfrm>
            <a:off x="9810750" y="-495300"/>
            <a:ext cx="2476500" cy="2476500"/>
          </a:xfrm>
          <a:prstGeom prst="ellipse">
            <a:avLst/>
          </a:prstGeom>
          <a:solidFill>
            <a:srgbClr val="F0A44B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6F112FD-2ED6-4578-9C9A-A32D9757B6F0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2095500" cy="2095500"/>
          </a:xfrm>
          <a:prstGeom prst="ellipse">
            <a:avLst/>
          </a:prstGeom>
          <a:solidFill>
            <a:srgbClr val="40A0D8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8B873AA-6B88-4C60-981F-C2A3FEE46E74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286000" cy="2286000"/>
          </a:xfrm>
          <a:prstGeom prst="ellipse">
            <a:avLst/>
          </a:prstGeom>
          <a:solidFill>
            <a:srgbClr val="DCE6F4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18B875-3600-4274-BD19-322449B2EE9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BC2943A-03C3-41C8-BA47-715009B9FE60}"/>
              </a:ext>
            </a:extLst>
          </p:cNvPr>
          <p:cNvSpPr>
            <a:spLocks noGrp="1"/>
          </p:cNvSpPr>
          <p:nvPr/>
        </p:nvSpPr>
        <p:spPr>
          <a:xfrm>
            <a:off x="10658475" y="781050"/>
            <a:ext cx="8953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44200" y="866775"/>
            <a:ext cx="723900" cy="723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145BE1-BB0D-488A-811E-3DDC1447039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PERSPECTIVES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10AEE4-08A8-42EE-A1E8-F6B0656CFA9C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08 / 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1BED62-1E38-48CF-B460-20190AF9F07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620250" cy="19050"/>
          </a:xfrm>
          <a:prstGeom prst="rect">
            <a:avLst/>
          </a:prstGeom>
          <a:solidFill>
            <a:srgbClr val="D7E0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C371FD9-25E8-40A1-B318-E6554918382A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71450" cy="171450"/>
          </a:xfrm>
          <a:prstGeom prst="ellipse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566377-32EF-438F-AA17-9E1A7BF8AF0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Prochaine etape : passer d'une base solide a une solution encore plus robuste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C6249E-B88E-44C8-A704-102466B8E1EF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Les fondations sont posees ; la priorite est maintenant l'industrialisation.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B2BDFC3-EB4F-40AD-9543-859568415C20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281100-C4C1-4244-813F-791ED269E509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E36AA7C-E562-43EC-AC42-8DED2B82474B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86C4E9-F719-423B-8CBA-ED4EC5467D77}"/>
              </a:ext>
            </a:extLst>
          </p:cNvPr>
          <p:cNvSpPr>
            <a:spLocks noGrp="1"/>
          </p:cNvSpPr>
          <p:nvPr/>
        </p:nvSpPr>
        <p:spPr>
          <a:xfrm>
            <a:off x="1162050" y="3895725"/>
            <a:ext cx="57150" cy="1143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A26656-E5D3-41E9-ABBC-EC1547DD25F0}"/>
              </a:ext>
            </a:extLst>
          </p:cNvPr>
          <p:cNvSpPr>
            <a:spLocks noGrp="1"/>
          </p:cNvSpPr>
          <p:nvPr/>
        </p:nvSpPr>
        <p:spPr>
          <a:xfrm>
            <a:off x="1247775" y="3819525"/>
            <a:ext cx="57150" cy="1905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6B910E-5611-41A0-9F38-4BBD780A7FD5}"/>
              </a:ext>
            </a:extLst>
          </p:cNvPr>
          <p:cNvSpPr>
            <a:spLocks noGrp="1"/>
          </p:cNvSpPr>
          <p:nvPr/>
        </p:nvSpPr>
        <p:spPr>
          <a:xfrm>
            <a:off x="1333500" y="3752850"/>
            <a:ext cx="57150" cy="257175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23E520-E164-443B-A328-4180F1111CA5}"/>
              </a:ext>
            </a:extLst>
          </p:cNvPr>
          <p:cNvSpPr>
            <a:spLocks noGrp="1"/>
          </p:cNvSpPr>
          <p:nvPr/>
        </p:nvSpPr>
        <p:spPr>
          <a:xfrm>
            <a:off x="163830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Fiabiliser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868CAF-13F1-4A80-A04D-2968AD0594C4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 dirty="0" err="1">
                <a:solidFill>
                  <a:srgbClr val="071426"/>
                </a:solidFill>
              </a:rPr>
              <a:t>Renforcer</a:t>
            </a:r>
            <a:r>
              <a:rPr sz="1275" b="0" dirty="0">
                <a:solidFill>
                  <a:srgbClr val="071426"/>
                </a:solidFill>
              </a:rPr>
              <a:t> les tests, la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 dirty="0">
                <a:solidFill>
                  <a:srgbClr val="071426"/>
                </a:solidFill>
              </a:rPr>
              <a:t>validation continue et la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 dirty="0" err="1">
                <a:solidFill>
                  <a:srgbClr val="071426"/>
                </a:solidFill>
              </a:rPr>
              <a:t>qualite</a:t>
            </a:r>
            <a:r>
              <a:rPr sz="1275" b="0" dirty="0">
                <a:solidFill>
                  <a:srgbClr val="071426"/>
                </a:solidFill>
              </a:rPr>
              <a:t> </a:t>
            </a:r>
            <a:r>
              <a:rPr sz="1275" b="0" dirty="0" err="1">
                <a:solidFill>
                  <a:srgbClr val="071426"/>
                </a:solidFill>
              </a:rPr>
              <a:t>globale</a:t>
            </a:r>
            <a:r>
              <a:rPr sz="1275" b="0" dirty="0">
                <a:solidFill>
                  <a:srgbClr val="071426"/>
                </a:solidFill>
              </a:rPr>
              <a:t>.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129B20D7-B117-4C74-B858-C671EFB70532}"/>
              </a:ext>
            </a:extLst>
          </p:cNvPr>
          <p:cNvSpPr>
            <a:spLocks noGrp="1"/>
          </p:cNvSpPr>
          <p:nvPr/>
        </p:nvSpPr>
        <p:spPr>
          <a:xfrm>
            <a:off x="441325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827904-E5CD-4A13-85CD-3F3E72B1345C}"/>
              </a:ext>
            </a:extLst>
          </p:cNvPr>
          <p:cNvSpPr>
            <a:spLocks noGrp="1"/>
          </p:cNvSpPr>
          <p:nvPr/>
        </p:nvSpPr>
        <p:spPr>
          <a:xfrm>
            <a:off x="441325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BEC83B1-AAC9-445B-B99A-6D845CF11AE5}"/>
              </a:ext>
            </a:extLst>
          </p:cNvPr>
          <p:cNvSpPr>
            <a:spLocks noGrp="1"/>
          </p:cNvSpPr>
          <p:nvPr/>
        </p:nvSpPr>
        <p:spPr>
          <a:xfrm>
            <a:off x="462280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1CB0355-7248-45F2-BAA3-7F5C53FDC02C}"/>
              </a:ext>
            </a:extLst>
          </p:cNvPr>
          <p:cNvSpPr>
            <a:spLocks noGrp="1"/>
          </p:cNvSpPr>
          <p:nvPr/>
        </p:nvSpPr>
        <p:spPr>
          <a:xfrm>
            <a:off x="4746625" y="3790950"/>
            <a:ext cx="95250" cy="95250"/>
          </a:xfrm>
          <a:prstGeom prst="ellipse">
            <a:avLst/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EBBA0968-148B-4858-B076-EAAF21AC359F}"/>
              </a:ext>
            </a:extLst>
          </p:cNvPr>
          <p:cNvSpPr>
            <a:spLocks noGrp="1"/>
          </p:cNvSpPr>
          <p:nvPr/>
        </p:nvSpPr>
        <p:spPr>
          <a:xfrm>
            <a:off x="4918075" y="3876675"/>
            <a:ext cx="95250" cy="95250"/>
          </a:xfrm>
          <a:prstGeom prst="ellipse">
            <a:avLst/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EF0493-9DE4-4B88-B56D-706AFFC2DB55}"/>
              </a:ext>
            </a:extLst>
          </p:cNvPr>
          <p:cNvSpPr>
            <a:spLocks noGrp="1"/>
          </p:cNvSpPr>
          <p:nvPr/>
        </p:nvSpPr>
        <p:spPr>
          <a:xfrm>
            <a:off x="4832350" y="3857625"/>
            <a:ext cx="180975" cy="28575"/>
          </a:xfrm>
          <a:prstGeom prst="rect">
            <a:avLst/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AFB1FC-7E2F-4B10-8599-54B199E9DA40}"/>
              </a:ext>
            </a:extLst>
          </p:cNvPr>
          <p:cNvSpPr>
            <a:spLocks noGrp="1"/>
          </p:cNvSpPr>
          <p:nvPr/>
        </p:nvSpPr>
        <p:spPr>
          <a:xfrm>
            <a:off x="525145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Harmoniser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04B54A-D58E-454D-9596-57507276527E}"/>
              </a:ext>
            </a:extLst>
          </p:cNvPr>
          <p:cNvSpPr>
            <a:spLocks noGrp="1"/>
          </p:cNvSpPr>
          <p:nvPr/>
        </p:nvSpPr>
        <p:spPr>
          <a:xfrm>
            <a:off x="464185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 dirty="0" err="1">
                <a:solidFill>
                  <a:srgbClr val="071426"/>
                </a:solidFill>
              </a:rPr>
              <a:t>Normaliser</a:t>
            </a:r>
            <a:r>
              <a:rPr sz="1275" b="0" dirty="0">
                <a:solidFill>
                  <a:srgbClr val="071426"/>
                </a:solidFill>
              </a:rPr>
              <a:t> les conventions,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 dirty="0">
                <a:solidFill>
                  <a:srgbClr val="071426"/>
                </a:solidFill>
              </a:rPr>
              <a:t>la documentation et les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 dirty="0" err="1">
                <a:solidFill>
                  <a:srgbClr val="071426"/>
                </a:solidFill>
              </a:rPr>
              <a:t>parcours</a:t>
            </a:r>
            <a:r>
              <a:rPr sz="1275" b="0" dirty="0">
                <a:solidFill>
                  <a:srgbClr val="071426"/>
                </a:solidFill>
              </a:rPr>
              <a:t> inter-modules.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6D1E2922-8C17-482F-AC08-3BB0B10207D4}"/>
              </a:ext>
            </a:extLst>
          </p:cNvPr>
          <p:cNvSpPr>
            <a:spLocks noGrp="1"/>
          </p:cNvSpPr>
          <p:nvPr/>
        </p:nvSpPr>
        <p:spPr>
          <a:xfrm>
            <a:off x="8026400" y="3390900"/>
            <a:ext cx="33845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D7E0E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F9E0A2-0422-46AC-A015-9CE836CA0A2D}"/>
              </a:ext>
            </a:extLst>
          </p:cNvPr>
          <p:cNvSpPr>
            <a:spLocks noGrp="1"/>
          </p:cNvSpPr>
          <p:nvPr/>
        </p:nvSpPr>
        <p:spPr>
          <a:xfrm>
            <a:off x="8026400" y="3390900"/>
            <a:ext cx="76200" cy="2247900"/>
          </a:xfrm>
          <a:prstGeom prst="rect">
            <a:avLst/>
          </a:prstGeom>
          <a:solidFill>
            <a:srgbClr val="F0A4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DD8DE47D-A4B3-499B-AC03-EB030C78EA39}"/>
              </a:ext>
            </a:extLst>
          </p:cNvPr>
          <p:cNvSpPr>
            <a:spLocks noGrp="1"/>
          </p:cNvSpPr>
          <p:nvPr/>
        </p:nvSpPr>
        <p:spPr>
          <a:xfrm>
            <a:off x="8235950" y="3619500"/>
            <a:ext cx="514350" cy="514350"/>
          </a:xfrm>
          <a:prstGeom prst="ellipse">
            <a:avLst/>
          </a:prstGeom>
          <a:solidFill>
            <a:srgbClr val="FFFFFF">
              <a:alpha val="95686"/>
            </a:srgbClr>
          </a:solidFill>
          <a:ln w="11430">
            <a:solidFill>
              <a:srgbClr val="071426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91D5E7F9-47EC-474C-8C5E-4922A2890C68}"/>
              </a:ext>
            </a:extLst>
          </p:cNvPr>
          <p:cNvSpPr>
            <a:spLocks noGrp="1"/>
          </p:cNvSpPr>
          <p:nvPr/>
        </p:nvSpPr>
        <p:spPr>
          <a:xfrm>
            <a:off x="8359775" y="37623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F0A44B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0C710840-72D3-4A8F-8DBD-00EF12681176}"/>
              </a:ext>
            </a:extLst>
          </p:cNvPr>
          <p:cNvSpPr>
            <a:spLocks noGrp="1"/>
          </p:cNvSpPr>
          <p:nvPr/>
        </p:nvSpPr>
        <p:spPr>
          <a:xfrm>
            <a:off x="8407400" y="38481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40A0D8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089B7B9A-176D-422E-88E0-A9DA15E817E6}"/>
              </a:ext>
            </a:extLst>
          </p:cNvPr>
          <p:cNvSpPr>
            <a:spLocks noGrp="1"/>
          </p:cNvSpPr>
          <p:nvPr/>
        </p:nvSpPr>
        <p:spPr>
          <a:xfrm>
            <a:off x="8455025" y="39338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1F6FAE"/>
          </a:solidFill>
          <a:ln w="9525">
            <a:solidFill>
              <a:srgbClr val="071426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D676CC-C5BE-4DC4-8B80-8B2D1C5A1CCB}"/>
              </a:ext>
            </a:extLst>
          </p:cNvPr>
          <p:cNvSpPr>
            <a:spLocks noGrp="1"/>
          </p:cNvSpPr>
          <p:nvPr/>
        </p:nvSpPr>
        <p:spPr>
          <a:xfrm>
            <a:off x="8864600" y="36004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Monter en gamme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532315-917B-43EB-9E1F-511608180B0A}"/>
              </a:ext>
            </a:extLst>
          </p:cNvPr>
          <p:cNvSpPr>
            <a:spLocks noGrp="1"/>
          </p:cNvSpPr>
          <p:nvPr/>
        </p:nvSpPr>
        <p:spPr>
          <a:xfrm>
            <a:off x="8255000" y="4210050"/>
            <a:ext cx="2927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 dirty="0" err="1">
                <a:solidFill>
                  <a:srgbClr val="071426"/>
                </a:solidFill>
              </a:rPr>
              <a:t>Ameliorer</a:t>
            </a:r>
            <a:r>
              <a:rPr sz="1275" b="0" dirty="0">
                <a:solidFill>
                  <a:srgbClr val="071426"/>
                </a:solidFill>
              </a:rPr>
              <a:t> </a:t>
            </a:r>
            <a:r>
              <a:rPr sz="1275" b="0" dirty="0" err="1">
                <a:solidFill>
                  <a:srgbClr val="071426"/>
                </a:solidFill>
              </a:rPr>
              <a:t>l'observabilite</a:t>
            </a:r>
            <a:r>
              <a:rPr sz="1275" b="0" dirty="0">
                <a:solidFill>
                  <a:srgbClr val="071426"/>
                </a:solidFill>
              </a:rPr>
              <a:t>,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 dirty="0">
                <a:solidFill>
                  <a:srgbClr val="071426"/>
                </a:solidFill>
              </a:rPr>
              <a:t>le monitoring et la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 dirty="0">
                <a:solidFill>
                  <a:srgbClr val="071426"/>
                </a:solidFill>
              </a:rPr>
              <a:t>preparation au passage a</a:t>
            </a:r>
          </a:p>
          <a:p>
            <a:pPr algn="l">
              <a:defRPr sz="1275" b="0">
                <a:solidFill>
                  <a:srgbClr val="071426"/>
                </a:solidFill>
              </a:defRPr>
            </a:pPr>
            <a:r>
              <a:rPr sz="1275" b="0" dirty="0" err="1">
                <a:solidFill>
                  <a:srgbClr val="071426"/>
                </a:solidFill>
              </a:rPr>
              <a:t>l'echelle</a:t>
            </a:r>
            <a:r>
              <a:rPr sz="1275" b="0" dirty="0">
                <a:solidFill>
                  <a:srgbClr val="071426"/>
                </a:solidFill>
              </a:rPr>
              <a:t>.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6294BACE-9CCF-46FB-B613-E9ACAA3FFE89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9182100" cy="571500"/>
          </a:xfrm>
          <a:prstGeom prst="roundRect">
            <a:avLst>
              <a:gd name="adj" fmla="val 13333"/>
            </a:avLst>
          </a:prstGeom>
          <a:solidFill>
            <a:srgbClr val="0714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8A43437-15E0-44A5-99B5-95465B24B35F}"/>
              </a:ext>
            </a:extLst>
          </p:cNvPr>
          <p:cNvSpPr>
            <a:spLocks noGrp="1"/>
          </p:cNvSpPr>
          <p:nvPr/>
        </p:nvSpPr>
        <p:spPr>
          <a:xfrm>
            <a:off x="1066800" y="6076950"/>
            <a:ext cx="866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 err="1">
                <a:solidFill>
                  <a:srgbClr val="FFFFFF"/>
                </a:solidFill>
              </a:rPr>
              <a:t>ParabellumGroups</a:t>
            </a:r>
            <a:r>
              <a:rPr sz="1200" b="0" dirty="0">
                <a:solidFill>
                  <a:srgbClr val="FFFFFF"/>
                </a:solidFill>
              </a:rPr>
              <a:t> ERP </a:t>
            </a:r>
            <a:r>
              <a:rPr sz="1200" b="0" dirty="0" err="1">
                <a:solidFill>
                  <a:srgbClr val="FFFFFF"/>
                </a:solidFill>
              </a:rPr>
              <a:t>constitue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deja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une</a:t>
            </a:r>
            <a:r>
              <a:rPr sz="1200" b="0" dirty="0">
                <a:solidFill>
                  <a:srgbClr val="FFFFFF"/>
                </a:solidFill>
              </a:rPr>
              <a:t> base credible pour </a:t>
            </a:r>
            <a:r>
              <a:rPr sz="1200" b="0" dirty="0" err="1">
                <a:solidFill>
                  <a:srgbClr val="FFFFFF"/>
                </a:solidFill>
              </a:rPr>
              <a:t>une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digitalisation</a:t>
            </a:r>
            <a:r>
              <a:rPr sz="1200" b="0" dirty="0">
                <a:solidFill>
                  <a:srgbClr val="FFFFFF"/>
                </a:solidFill>
              </a:rPr>
              <a:t> durable.</a:t>
            </a:r>
          </a:p>
        </p:txBody>
      </p:sp>
    </p:spTree>
    <p:extLst>
      <p:ext uri="{BB962C8B-B14F-4D97-AF65-F5344CB8AC3E}">
        <p14:creationId xmlns:p14="http://schemas.microsoft.com/office/powerpoint/2010/main" val="7846903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1117</Words>
  <Application>Microsoft Office PowerPoint</Application>
  <DocSecurity>0</DocSecurity>
  <PresentationFormat>Grand écran</PresentationFormat>
  <Paragraphs>169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theo Geoffroy</cp:lastModifiedBy>
  <cp:revision>1</cp:revision>
  <cp:lastPrinted>2026-04-21T13:09:23Z</cp:lastPrinted>
  <dcterms:created xsi:type="dcterms:W3CDTF">2026-04-21T12:26:01Z</dcterms:created>
  <dcterms:modified xsi:type="dcterms:W3CDTF">2026-04-21T20:23:58Z</dcterms:modified>
</cp:coreProperties>
</file>