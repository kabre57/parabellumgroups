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a317a75db2453b" /><Relationship Type="http://schemas.openxmlformats.org/officeDocument/2006/relationships/extended-properties" Target="/docProps/app.xml" Id="R081e026aec38434a" /><Relationship Type="http://schemas.openxmlformats.org/officeDocument/2006/relationships/officeDocument" Target="/ppt/presentation.xml" Id="R0e23c23745864c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f1171c5ea460f"/>
  </p:sldMasterIdLst>
  <p:notesMasterIdLst>
    <p:notesMasterId xmlns:r="http://schemas.openxmlformats.org/officeDocument/2006/relationships" r:id="R6537adf421cb47b2"/>
  </p:notesMasterIdLst>
  <p:sldIdLst>
    <p:sldId xmlns:r="http://schemas.openxmlformats.org/officeDocument/2006/relationships" id="256" r:id="R2c4a40b721934f99"/>
    <p:sldId xmlns:r="http://schemas.openxmlformats.org/officeDocument/2006/relationships" id="257" r:id="Rec162114a2cb40c2"/>
    <p:sldId xmlns:r="http://schemas.openxmlformats.org/officeDocument/2006/relationships" id="258" r:id="Rfc201814cba64bc2"/>
    <p:sldId xmlns:r="http://schemas.openxmlformats.org/officeDocument/2006/relationships" id="259" r:id="R5b9ca8fca0bb4f37"/>
    <p:sldId xmlns:r="http://schemas.openxmlformats.org/officeDocument/2006/relationships" id="260" r:id="R5b69f7d2d4794673"/>
    <p:sldId xmlns:r="http://schemas.openxmlformats.org/officeDocument/2006/relationships" id="261" r:id="R5d6339127af5423b"/>
    <p:sldId xmlns:r="http://schemas.openxmlformats.org/officeDocument/2006/relationships" id="262" r:id="R81ccec7d72134446"/>
    <p:sldId xmlns:r="http://schemas.openxmlformats.org/officeDocument/2006/relationships" id="263" r:id="R81b2c4a4294c42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f1171c5ea460f" /><Relationship Type="http://schemas.openxmlformats.org/officeDocument/2006/relationships/theme" Target="/ppt/theme/theme1.xml" Id="Rc367e863a34c409a" /><Relationship Type="http://schemas.openxmlformats.org/officeDocument/2006/relationships/notesMaster" Target="/ppt/notesMasters/notesMaster1.xml" Id="R6537adf421cb47b2" /><Relationship Type="http://schemas.openxmlformats.org/officeDocument/2006/relationships/presProps" Target="/ppt/presProps.xml" Id="Rad568c4b57f9499a" /><Relationship Type="http://schemas.openxmlformats.org/officeDocument/2006/relationships/viewProps" Target="/ppt/viewProps.xml" Id="R021c445955a0415b" /><Relationship Type="http://schemas.openxmlformats.org/officeDocument/2006/relationships/tableStyles" Target="/ppt/tableStyles.xml" Id="Rac352cdc87354cf1" /><Relationship Type="http://schemas.openxmlformats.org/officeDocument/2006/relationships/slide" Target="/ppt/slides/slide1.xml" Id="R2c4a40b721934f99" /><Relationship Type="http://schemas.openxmlformats.org/officeDocument/2006/relationships/slide" Target="/ppt/slides/slide2.xml" Id="Rec162114a2cb40c2" /><Relationship Type="http://schemas.openxmlformats.org/officeDocument/2006/relationships/slide" Target="/ppt/slides/slide3.xml" Id="Rfc201814cba64bc2" /><Relationship Type="http://schemas.openxmlformats.org/officeDocument/2006/relationships/slide" Target="/ppt/slides/slide4.xml" Id="R5b9ca8fca0bb4f37" /><Relationship Type="http://schemas.openxmlformats.org/officeDocument/2006/relationships/slide" Target="/ppt/slides/slide5.xml" Id="R5b69f7d2d4794673" /><Relationship Type="http://schemas.openxmlformats.org/officeDocument/2006/relationships/slide" Target="/ppt/slides/slide6.xml" Id="R5d6339127af5423b" /><Relationship Type="http://schemas.openxmlformats.org/officeDocument/2006/relationships/slide" Target="/ppt/slides/slide7.xml" Id="R81ccec7d72134446" /><Relationship Type="http://schemas.openxmlformats.org/officeDocument/2006/relationships/slide" Target="/ppt/slides/slide8.xml" Id="R81b2c4a4294c42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64aca7cc8f441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ad3cb3f15848f9" /><Relationship Type="http://schemas.openxmlformats.org/officeDocument/2006/relationships/notesMaster" Target="/ppt/notesMasters/notesMaster1.xml" Id="R5f31b08104494b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50fd456774748" /><Relationship Type="http://schemas.openxmlformats.org/officeDocument/2006/relationships/notesMaster" Target="/ppt/notesMasters/notesMaster1.xml" Id="R3c04f14f2eac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b40a7e1564148" /><Relationship Type="http://schemas.openxmlformats.org/officeDocument/2006/relationships/notesMaster" Target="/ppt/notesMasters/notesMaster1.xml" Id="R74f86f87268b44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c49074bdd9488a" /><Relationship Type="http://schemas.openxmlformats.org/officeDocument/2006/relationships/notesMaster" Target="/ppt/notesMasters/notesMaster1.xml" Id="R3665b0ee857d4f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bd8f91d1504120" /><Relationship Type="http://schemas.openxmlformats.org/officeDocument/2006/relationships/notesMaster" Target="/ppt/notesMasters/notesMaster1.xml" Id="Rf92c9341426047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fd0aa4611b432f" /><Relationship Type="http://schemas.openxmlformats.org/officeDocument/2006/relationships/notesMaster" Target="/ppt/notesMasters/notesMaster1.xml" Id="Rdf374bac53b748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15ddeb05194346" /><Relationship Type="http://schemas.openxmlformats.org/officeDocument/2006/relationships/notesMaster" Target="/ppt/notesMasters/notesMaster1.xml" Id="Rdf26f0a2dfa240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559bad7fca4751" /><Relationship Type="http://schemas.openxmlformats.org/officeDocument/2006/relationships/notesMaster" Target="/ppt/notesMasters/notesMaster1.xml" Id="Rb2128643854f4c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Ouvrir avec la vision globale : une seule plateforme pour casser les silos et structurer les flux metier.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- presentation generale du projet, modules et structure.</a:t>
            </a:r>
          </a:p>
          <a:p xmlns:a="http://schemas.openxmlformats.org/drawingml/2006/main">
            <a:r>
              <a:t>- docs/RAPPORT_ANALYSE.md - contexte, processus metier et architecture cible.</a:t>
            </a:r>
          </a:p>
          <a:p xmlns:a="http://schemas.openxmlformats.org/drawingml/2006/main">
            <a:r>
              <a:t>- docker-compose.yml - composition de la stack et services exposes.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le fait que le projet part d'un besoin de transformation digitale tres concret.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docs/RAPPORT_ANALYSE.md - contexte, processus metier et architecture cible.</a:t>
            </a:r>
          </a:p>
          <a:p xmlns:a="http://schemas.openxmlformats.org/drawingml/2006/main">
            <a:r>
              <a:t>- README.md - presentation generale du projet, modules et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que la plateforme ne juxtapose pas des ecrans : elle relie vraiment les processus de bout en bout.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- presentation generale du projet, modules et structure.</a:t>
            </a:r>
          </a:p>
          <a:p xmlns:a="http://schemas.openxmlformats.org/drawingml/2006/main">
            <a:r>
              <a:t>- docker-compose.yml - composition de la stack et services exposes.</a:t>
            </a:r>
          </a:p>
          <a:p xmlns:a="http://schemas.openxmlformats.org/drawingml/2006/main"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sert a montrer l'ampleur fonctionnelle sans entrer trop tot dans le detail de chaque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- presentation generale du projet, modules et structure.</a:t>
            </a:r>
          </a:p>
          <a:p xmlns:a="http://schemas.openxmlformats.org/drawingml/2006/main">
            <a:r>
              <a:t>- docs/RAPPORT_ANALYSE.md - contexte, processus metier et architecture cible.</a:t>
            </a:r>
          </a:p>
          <a:p xmlns:a="http://schemas.openxmlformats.org/drawingml/2006/main">
            <a:r>
              <a:t>- frontend/package.json et frontend/README.md - stack frontend et organisation.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Mettre en avant le caractere evolutif de l'architecture et la separation nette des couches.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docker-compose.yml - composition de la stack et services exposes.</a:t>
            </a:r>
          </a:p>
          <a:p xmlns:a="http://schemas.openxmlformats.org/drawingml/2006/main">
            <a:r>
              <a:t>- frontend/package.json et frontend/README.md - stack frontend et organisation.</a:t>
            </a:r>
          </a:p>
          <a:p xmlns:a="http://schemas.openxmlformats.org/drawingml/2006/main"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C'est ici qu'il faut montrer que le projet est aligne avec des besoins metier reels et un contexte local concret.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docs/RAPPORT_ANALYSE.md - contexte, processus metier et architecture cible.</a:t>
            </a:r>
          </a:p>
          <a:p xmlns:a="http://schemas.openxmlformats.org/drawingml/2006/main">
            <a:r>
              <a:t>- services/hr-service/server.js et services/logipaie.service.js - couverture RH / paie et logique locale.</a:t>
            </a:r>
          </a:p>
          <a:p xmlns:a="http://schemas.openxmlformats.org/drawingml/2006/main">
            <a:r>
              <a:t>- services/customer-service/routes/client.routes.js - validations metier locales cote CRM.</a:t>
            </a:r>
          </a:p>
          <a:p xmlns:a="http://schemas.openxmlformats.org/drawingml/2006/main"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sert a montrer que la plateforme depasse le stade de prototype et dispose deja d'une surface fonctionnelle importante.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frontend/package.json et frontend/README.md - stack frontend et organisation.</a:t>
            </a:r>
          </a:p>
          <a:p xmlns:a="http://schemas.openxmlformats.org/drawingml/2006/main">
            <a:r>
              <a:t>- docker-compose.yml - composition de la stack et services exposes.</a:t>
            </a:r>
          </a:p>
          <a:p xmlns:a="http://schemas.openxmlformats.org/drawingml/2006/main">
            <a:r>
              <a:t>- README.md - presentation generale du projet, modules et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Terminer sur une note positive : le projet est deja solide et la suite consiste surtout a renforcer sa maturite industrielle.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scripts/run-validation.mjs - pipeline de validation automatisee du depot.</a:t>
            </a:r>
          </a:p>
          <a:p xmlns:a="http://schemas.openxmlformats.org/drawingml/2006/main">
            <a:r>
              <a:t>- README.md - presentation generale du projet, modules et structure.</a:t>
            </a:r>
          </a:p>
          <a:p xmlns:a="http://schemas.openxmlformats.org/drawingml/2006/main">
            <a:r>
              <a:t>- services/api-gateway/index.js et routes/services/INDEX.md - gateway, securite et cartographie des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5d186fa734a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0553237-20DA-42B5-BE6A-99BFFA5D336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52D1624-83D4-493E-82E0-017F672C9C5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197993-3673-4E5A-8EAC-4F28636F3B3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990285-D487-48F2-ABD6-719206EF83A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167ecd7ddea4a91" /><Relationship Type="http://schemas.openxmlformats.org/officeDocument/2006/relationships/slideLayout" Target="/ppt/slideLayouts/slideLayout2.xml" Id="R6e814d0b61c6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033AA6-C247-44C1-AD29-648445C3E90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814d0b61c6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4467183fc4829" /><Relationship Type="http://schemas.openxmlformats.org/officeDocument/2006/relationships/image" Target="/ppt/media/image.jpeg" Id="R3e94c5e7c4e84bf2" /><Relationship Type="http://schemas.openxmlformats.org/officeDocument/2006/relationships/notesSlide" Target="/ppt/notesSlides/notesSlide1.xml" Id="R2c1f54d9eea34c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544ece94514d85" /><Relationship Type="http://schemas.openxmlformats.org/officeDocument/2006/relationships/image" Target="/ppt/media/image2.jpeg" Id="Rcb42d24a82a34938" /><Relationship Type="http://schemas.openxmlformats.org/officeDocument/2006/relationships/notesSlide" Target="/ppt/notesSlides/notesSlide2.xml" Id="Rb97f0a50dc6f47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59a872e884fca" /><Relationship Type="http://schemas.openxmlformats.org/officeDocument/2006/relationships/image" Target="/ppt/media/image3.jpeg" Id="R064b524f3dea4c9f" /><Relationship Type="http://schemas.openxmlformats.org/officeDocument/2006/relationships/notesSlide" Target="/ppt/notesSlides/notesSlide3.xml" Id="R2008f1a0f18046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5e9a0adb2445f" /><Relationship Type="http://schemas.openxmlformats.org/officeDocument/2006/relationships/image" Target="/ppt/media/image4.jpeg" Id="R8e734bb96b4140ea" /><Relationship Type="http://schemas.openxmlformats.org/officeDocument/2006/relationships/notesSlide" Target="/ppt/notesSlides/notesSlide4.xml" Id="R6b4cfcc3783746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e517f8fcb45b7" /><Relationship Type="http://schemas.openxmlformats.org/officeDocument/2006/relationships/image" Target="/ppt/media/image5.jpeg" Id="Ra692fc1b94c9433a" /><Relationship Type="http://schemas.openxmlformats.org/officeDocument/2006/relationships/notesSlide" Target="/ppt/notesSlides/notesSlide5.xml" Id="R2660effed81e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76a2a2abad4694" /><Relationship Type="http://schemas.openxmlformats.org/officeDocument/2006/relationships/image" Target="/ppt/media/image6.jpeg" Id="R58aa66409ce94009" /><Relationship Type="http://schemas.openxmlformats.org/officeDocument/2006/relationships/notesSlide" Target="/ppt/notesSlides/notesSlide6.xml" Id="Rd6e687eadbe24d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13308423ed4b3c" /><Relationship Type="http://schemas.openxmlformats.org/officeDocument/2006/relationships/image" Target="/ppt/media/image7.jpeg" Id="Re09dce62b06d48d5" /><Relationship Type="http://schemas.openxmlformats.org/officeDocument/2006/relationships/notesSlide" Target="/ppt/notesSlides/notesSlide7.xml" Id="R01a3d976a5ba48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fcc4b1361467e" /><Relationship Type="http://schemas.openxmlformats.org/officeDocument/2006/relationships/image" Target="/ppt/media/image8.jpeg" Id="R44e1443fba7e4dfa" /><Relationship Type="http://schemas.openxmlformats.org/officeDocument/2006/relationships/notesSlide" Target="/ppt/notesSlides/notesSlide8.xml" Id="R219ad86a5e7d4b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0DD50-DF4E-4EEF-AB32-517F8A87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-8191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879A4-627B-4367-B33B-AD143D5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64E4A-3F29-47EF-8167-47B35571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648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F5A41-0CF2-431B-94FD-9720885D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7E282-BCBE-4DB0-BFFA-67B3EAEB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62050"/>
            <a:ext cx="37719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FFFFFF">
                <a:alpha val="16471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4c5e7c4e84bf2"/>
          <a:stretch xmlns:a="http://schemas.openxmlformats.org/drawingml/2006/main"/>
        </p:blipFill>
        <p:spPr>
          <a:xfrm xmlns:a="http://schemas.openxmlformats.org/drawingml/2006/main">
            <a:off x="7696200" y="14478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F2119-F863-4C03-8298-7AB8F3DD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667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3902C-DFFE-4C19-8B8B-D02D672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C5EC"/>
                </a:solidFill>
              </a:defRPr>
            </a:pPr>
            <a:r>
              <a:rPr sz="975" b="1">
                <a:solidFill>
                  <a:srgbClr val="7AC5EC"/>
                </a:solidFill>
              </a:rPr>
              <a:t>Presentation projet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0908B-F90B-4792-9049-BD7998C1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ParabellumGroups ERP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70276-0846-4DEF-A57C-9DD40018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539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CF5"/>
                </a:solidFill>
              </a:defRPr>
            </a:pPr>
            <a:r>
              <a:rPr sz="1500" b="0">
                <a:solidFill>
                  <a:srgbClr val="E5ECF5"/>
                </a:solidFill>
              </a:rPr>
              <a:t>Plateforme ERP modulaire pour centraliser, securiser et piloter l'activite de l'entreprise.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4A3FF-CE81-4305-AC2E-CC737C38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047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CCA7F-C0EB-4D48-A961-C8866067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440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Une plateforme unique pour relier commercial, operations et finance.</a:t>
            </a:r>
          </a:p>
        </p:txBody>
      </p:sp>
    </p:spTree>
    <p:extLst>
      <p:ext uri="{BB962C8B-B14F-4D97-AF65-F5344CB8AC3E}">
        <p14:creationId xmlns:p14="http://schemas.microsoft.com/office/powerpoint/2010/main" val="149446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0999A-49DE-49D4-870F-3191A834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148F-5853-476C-9F0F-9CFEEC1A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953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E7A95-D825-416D-A047-E1C711B0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CA2DC-A7B1-469B-BA2F-43AB183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EE1CF-4335-4F0D-A450-4B1A928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820C0-621F-4CAA-AAAA-BECB7404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8105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2d24a82a34938"/>
          <a:stretch xmlns:a="http://schemas.openxmlformats.org/drawingml/2006/main"/>
        </p:blipFill>
        <p:spPr>
          <a:xfrm xmlns:a="http://schemas.openxmlformats.org/drawingml/2006/main">
            <a:off x="10744200" y="8667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E976B-8010-4468-8473-27BF0021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PROBLEME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B8752-97E1-4837-B2DF-7935673E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3771D-2071-4C31-80DF-D3E1D59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AA520-1BD9-4999-894A-0F335F6B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39EC6-57F0-4569-B61B-AE3830A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 probleme simple : l'information est dispersee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735B0-814B-4554-9A1E-E01C292A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Sans plateforme unifiee, les equipes travaillent en silos et le pilotage devient lent.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284D1-A568-4A28-8AD3-AFB16E29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EDFFF-3040-4956-93FF-A8D0B6BF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92552-FD65-45B4-AE07-28685073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437DE-F4FD-48EE-ACE7-B1D19993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E4820-0FE2-4AF0-A196-4F0DCE63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4CC94-22DE-46C3-A29B-F91BE0C1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601FB-74C9-4419-801E-0A5A9204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Silos metier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AB352-2A5E-4C99-AD17-638CFC7C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Commercial, RH, achats,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technique et finance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s'appuient souvent sur des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outils separes.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D2E2A-8024-4B54-AC60-A920D6EB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D3031-A057-41FD-A63E-7607806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CFF87-ED54-4147-9907-B2CFE216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283B4-D70F-45C0-94E5-DDF11910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B6ED0A-9F6E-4E36-95E6-9AD1EF61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991AF-FA4C-417D-9AE8-835500FF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B4B8F-C2EF-466F-80D2-8A8AB376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Taches manuelles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C9D926-3D2F-4BEA-9782-13419F7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Excel, ressaisies et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validations hors flux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augmentent les erreurs et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les retards.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27AEF-2438-4B94-A8D6-3C642FD2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34641-BC9E-4EA9-8EC6-66F4315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DCCAEF-CD43-4D7D-A5C2-18DDDFA9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35E676-4726-4E36-8315-42E9BDE5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E20042-8E78-4F27-8B2E-7AEB0AF2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A0D8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D6F4F-DD60-4748-A7FF-199D4C9C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AE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E0890-70BC-4134-8232-1951748A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Visibilite limitee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32DD3-4F44-4E6C-B0CA-D5F51B41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Les indicateurs restent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disperses, ce qui complique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la decision et le suivi en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temps reel.</a:t>
            </a:r>
          </a:p>
        </p:txBody>
      </p:sp>
    </p:spTree>
    <p:extLst>
      <p:ext uri="{BB962C8B-B14F-4D97-AF65-F5344CB8AC3E}">
        <p14:creationId xmlns:p14="http://schemas.microsoft.com/office/powerpoint/2010/main" val="1985489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A6270-210E-422B-8997-24DA59FB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C87C1-7EA6-4DAA-B74E-33CBA090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953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DB147-837B-4859-AA64-6EDA57E9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BBDA6-4BC5-4FF2-9EAF-94522F14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87412-3375-4170-A86E-AD6ECA4D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89F26-3FF0-48D0-BE4A-2BAA6757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8105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b524f3dea4c9f"/>
          <a:stretch xmlns:a="http://schemas.openxmlformats.org/drawingml/2006/main"/>
        </p:blipFill>
        <p:spPr>
          <a:xfrm xmlns:a="http://schemas.openxmlformats.org/drawingml/2006/main">
            <a:off x="10744200" y="8667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FA886-03AB-4FAD-85F9-22AEF2B7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D3411-04C0-4792-A4C3-D966A9F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B72B7-8B43-41D3-BED6-BB8BCDE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F6A2F-19C6-4D0A-8651-7067013E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7550A-D99C-412C-820B-C3F38E68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La reponse : un ERP transversal et modulaire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D622C-5674-440F-8E2F-58D9538C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 projet relie les fonctions critiques dans un seul systeme, avec une architecture separee par domaines.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A26DD-8659-4276-91C1-609D1AA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143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166DD-7D74-4969-8FB1-FC4F2034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D395E-32F4-4514-A531-09C1AEE9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0195F-452B-43A5-8885-55D96AB4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plateforme unique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D8CBD-3A9A-4C82-BB61-473A230C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Acces centralise et parcours unifie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8C742-70C0-44F0-937F-C26919D8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143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3042F-E468-4BEB-9C8C-9B077839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0B982-2478-4F20-B87A-A778AF1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624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3A680-7B39-4406-8E55-BAD0E59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microservices metier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93AA1-F449-493D-BB71-45260C86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673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Domaines separes et evolutifs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2171C-6FDE-4A1E-9EA0-F42BBBF0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3143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7AAD8A-A261-468C-84FF-D8C7BCFE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69031E-AFE9-4A35-A52E-4EB4A380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624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360°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B059A-C321-40C6-9DDA-2B258704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vision activite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EECBD-05C4-4378-90E8-5B43DCC6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673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Du prospect au reporting</a:t>
            </a:r>
          </a:p>
        </p:txBody>
      </p:sp>
    </p:spTree>
    <p:extLst>
      <p:ext uri="{BB962C8B-B14F-4D97-AF65-F5344CB8AC3E}">
        <p14:creationId xmlns:p14="http://schemas.microsoft.com/office/powerpoint/2010/main" val="1536622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D104F-8861-4585-8281-1C0B241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18EA4-0A0D-43A6-8815-F8433312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953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B03B8-1D73-4743-83BE-FA3DE0E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9E6E0-95B0-421A-8A27-67A3D6D3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92449-8A3A-4E8F-8DE6-A9B73145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80699-866E-491C-880B-29B3C482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8105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34bb96b4140ea"/>
          <a:stretch xmlns:a="http://schemas.openxmlformats.org/drawingml/2006/main"/>
        </p:blipFill>
        <p:spPr>
          <a:xfrm xmlns:a="http://schemas.openxmlformats.org/drawingml/2006/main">
            <a:off x="10744200" y="8667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5CEE2-9038-49A3-A530-074A2681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97045-6978-4728-AC8F-1E294123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CD2C5-23C4-417F-BE29-A2C897C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6D6B8-7146-4211-AF4A-C9933A65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B94F1-E383-48C2-8763-2F05C9CA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Une couverture fonctionnelle tres large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CC473-A932-49F6-A38F-8AB62BA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La plateforme accompagne l'entreprise sur les fonctions support comme sur les activites operationnelles.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849E6-6670-476A-9835-1D108606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FCEF1-5FF0-49B2-9541-A68B8ACC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A46F3-FD2C-4351-A125-85D8ABD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AD783-95F7-4F53-AE15-106504E7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4822C-6FEC-4AA3-A95D-A5E6E7FA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F2534-3923-422B-B497-D391211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CE588-B8D5-4A06-AB64-765FDDF4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Gestion &amp; controle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8DD20-48EF-4CE6-822D-72BE87F5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Authentification, roles,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permissions, audit,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notifications et tableaux de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bord.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B2457-6F05-42A8-BD1F-5BF418B3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AA814-AAFF-407C-AE89-EF88400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B683E-8A63-4368-89AB-8E4251D2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F9B95-2137-4049-BB41-8B1692E0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45CC59-D314-422B-A758-92D95840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5A10C-24D8-49DC-93BB-5B3D0DCB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FC168-2A81-4343-88D4-E378339A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Developpement business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BA77DC-7E84-4AA0-822F-18A05E3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Prospection, CRM, devis,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projets et suivi de la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relation client.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C68A2-3998-405B-BE6C-3371A93D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32625E-225F-4F96-B748-B814D29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CDBA1-0FD7-4A63-8C74-E84B653C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C3E57-6381-4133-BE77-5EFB2EF2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2CC67C-70D3-4665-8767-3E141E69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A0D8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E01BA0-57B0-4BF5-AF89-E5FD1F60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AE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D771D8-692C-45FD-8457-F223D39E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Operations &amp; support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07C53-4F23-4ADF-980F-4C0D4522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Achats, stock, technique,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RH, paie, comptabilite et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tresorerie.</a:t>
            </a:r>
          </a:p>
        </p:txBody>
      </p:sp>
    </p:spTree>
    <p:extLst>
      <p:ext uri="{BB962C8B-B14F-4D97-AF65-F5344CB8AC3E}">
        <p14:creationId xmlns:p14="http://schemas.microsoft.com/office/powerpoint/2010/main" val="36906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13228-B825-4581-9286-4A844A44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C6948-9F68-4E2C-A9B9-AE813AD6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953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8DC25-BFAD-47ED-8E68-9ED7317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B42A3-C8AC-4E68-B596-39C1B09C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DB8B4-DF4C-44EE-A278-41D22D8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A1600-8BD5-4416-B4B8-4BC869EB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8105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2fc1b94c9433a"/>
          <a:stretch xmlns:a="http://schemas.openxmlformats.org/drawingml/2006/main"/>
        </p:blipFill>
        <p:spPr>
          <a:xfrm xmlns:a="http://schemas.openxmlformats.org/drawingml/2006/main">
            <a:off x="10744200" y="8667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5C5EC-5351-4D80-8D9C-7CD77C08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675FF-97D2-4E96-AB26-8B4C25F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1A1EC-E1D9-416F-8650-26BA1F6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994E8-0857-4817-A28E-1942724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BC383-2ECC-41F5-8B47-D1B5D5B3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Une architecture moderne, modulaire et evolutive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FEC96-EC13-446A-AF7C-339FB350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 choix technique privilegie la separation des responsabilites et la maintenabilite.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E2036-D36D-4C66-9CBC-194549A8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F876B-6B2F-4682-B9B2-46C8FF0E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D3464-8524-45B3-B350-DA58C27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AFB10-441D-41B2-9625-D1F2718F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763DB-AC4C-429E-844B-03269BA4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31C38-4A33-45A1-99E2-14BC9CF3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03CD6-5BCC-47A0-816B-94812F51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Experience utilisateur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B3428-EF67-46FD-B3CD-768F45E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Frontend Next.js 16, React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19 et TypeScript pour une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interface unique.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E9967-0479-41F3-8E48-3C97A3A2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4F502-DCB1-4E0A-9424-15BA2912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F92659-A417-4A56-B43E-0B131DA6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1AE56-38F0-4939-8371-3B91A59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35976-833C-46E3-9D69-42AF80C6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FFDDF-6183-4699-B90C-65A8E66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47DF1-CE03-417C-A599-64F674D8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Orchestration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674FE-F403-4E95-ACFC-CD2ED5C7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Un API Gateway centralise le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routage, l'authentification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et les controles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transverses.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EC8D6-5DC8-4CF8-992F-0DDB3639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2ABE5-B3F3-4A69-A54B-E0D6ABD8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EF0F14-697B-4D88-9255-ACAE3FE9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39D2A0-A5EF-47CE-A1AF-54F18805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DA67B-7152-4388-B2C0-EBE7F30E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A0D8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50F19A-1D76-43F2-92E8-059046B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AE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EC9BA2-F6E6-4EAF-A1E5-ED2C535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Donnees &amp; infra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5099AD-50F3-48DE-AF2C-5858E7C4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PostgreSQL, Prisma, Redis,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MinIO, Docker Compose et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Nginx soutiennent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l'ensemble.</a:t>
            </a:r>
          </a:p>
        </p:txBody>
      </p:sp>
    </p:spTree>
    <p:extLst>
      <p:ext uri="{BB962C8B-B14F-4D97-AF65-F5344CB8AC3E}">
        <p14:creationId xmlns:p14="http://schemas.microsoft.com/office/powerpoint/2010/main" val="56225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01EFF-6D22-427C-AF92-3A3454C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4D78-B062-41F0-8FCE-2795944E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953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70F74-29BC-443F-9E2C-51A4455C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F1B1A-EE5B-4546-B72D-AFF05238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B1288-7160-46C4-A4D2-CBD0D66C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078B8-7A23-481E-98DA-ED9C99B1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8105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a66409ce94009"/>
          <a:stretch xmlns:a="http://schemas.openxmlformats.org/drawingml/2006/main"/>
        </p:blipFill>
        <p:spPr>
          <a:xfrm xmlns:a="http://schemas.openxmlformats.org/drawingml/2006/main">
            <a:off x="10744200" y="8667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895F2-FB75-4EB5-86A1-8008E404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DIFFERENCIATION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AAA01-1ACB-498A-BBC7-2B3DCD48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B9BE1-FE2A-4E25-BA5F-C97BAAA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5B36B-04CD-44E6-A0B8-7FD680D4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EBEE5-CE2F-470E-9EB7-AED6A542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Ce qui rend le projet differenciant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8160A-2751-425D-B6DE-B3B05CB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La solution ne s'arrete pas a des ecrans de gestion ; elle integre de vraies logiques metier.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B9B80-C6CE-4710-966C-4613563A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3AE89-AD8E-47BA-B10A-317D0331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816E0-4415-4E40-A53E-7221AE6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B8D94-AD82-4D8C-BF3E-05AA79F8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CD9B3-7D84-4D17-8A15-342FE3FD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D03BA-78FB-4DEE-A272-B0D32FC9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7A1CF-2891-4CDC-BF3F-3602D0D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Workflows complets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ED5CB-98E2-439D-B9ED-802C2C2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Achats jusqu'au stock,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prospect jusqu'a la facture,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employe jusqu'au bulletin.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EC84D-F3CE-4E42-AA60-D3F0B85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44DB8-950C-4601-BC61-98BD2B8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61AEC8-E3A2-4B5D-A46C-29A2534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B4295-C180-44A2-9B38-B3BE192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4CACD-1A5A-4FFC-A756-FBDBF4A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19F1D-4295-40BC-850F-9CE3D3C1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FDF02-F71A-472A-A062-77FB0BDC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Contexte local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FD156-6916-4CC0-87B9-ED8E89B7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RH et paie adaptees a la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Cote d'Ivoire avec CNPS,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ITS, FDFP, DISA et DASC.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804E8E-C764-4D31-9D9B-43C93C43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F8B5C7-45ED-46C5-8EA0-2B6D6B6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320D7-D885-409A-9657-648A4E2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D555D-FA4E-448D-9FBC-6F5BDE08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67F0DF-5343-4768-A348-E4BA19F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A0D8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CF195-26B5-4006-A0E6-D8521C6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AE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B6DF8A-B9BF-408C-931D-E20E03C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Gouvernance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1477D3-1E34-4EA7-BD29-000BD8FB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Permissions fines, audit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logs et gestion structuree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des acces.</a:t>
            </a:r>
          </a:p>
        </p:txBody>
      </p:sp>
    </p:spTree>
    <p:extLst>
      <p:ext uri="{BB962C8B-B14F-4D97-AF65-F5344CB8AC3E}">
        <p14:creationId xmlns:p14="http://schemas.microsoft.com/office/powerpoint/2010/main" val="766024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129CA-2A96-40A0-A354-802BB68A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6A78D-1960-420D-840A-AA36A52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953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AD6B1-5DA9-4BCC-BDA8-9DFECDD0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5F599-F422-4B4D-980D-9067CD1A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C6A6E-C985-4E29-866C-EC69E90A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1169C-5F58-4681-A98B-E2BD68D8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8105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dce62b06d48d5"/>
          <a:stretch xmlns:a="http://schemas.openxmlformats.org/drawingml/2006/main"/>
        </p:blipFill>
        <p:spPr>
          <a:xfrm xmlns:a="http://schemas.openxmlformats.org/drawingml/2006/main">
            <a:off x="10744200" y="8667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AF049-99C2-4D17-B867-98706472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AMPLEUR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0E3A7-BEFF-46EE-BC3A-C26FD3EE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07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E3605-8506-4CD6-AEC0-6C29CF03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A7DB4-8FCD-4626-A851-7D8EADD6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5A31C-313C-49DE-ACA1-CEFD750C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Une base applicative deja structurante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FF55A-21D9-4856-AE20-8C266F0B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L'analyse du depot montre une application de taille significative. Le projet compte aussi 12 microservices et 84 controllers backend.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E5AEE-5D83-498E-9F08-1402CE06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229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2B74E-F3A8-441C-851B-44861911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22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8A36D-0963-4AA3-999C-CADBCC54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EE75C-C8BD-4D6F-BA92-F0481765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377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pages 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FE93D-4C35-4C5D-B01B-C92033C6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fichiers page.tsx detectes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D5D05-032A-46EB-AC3C-F3041E39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90900"/>
            <a:ext cx="4229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E68B5-67C3-4B98-AD93-C27DD96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90900"/>
            <a:ext cx="422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D50C2-379B-4FC3-B412-6E43CA0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6D72E-DC70-4A22-AFB3-036EE9A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377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composants React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294EB-5D11-44DC-8637-2D6CF506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dans frontend/src/components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E905FF-5A9F-4661-BA0D-D215568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4229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FA4C5-4CA2-4577-A075-D39362F6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422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996399-EFF1-4242-BBED-DF2B2D8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92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D598F5-E8ED-4FDE-A5C5-4511EEA4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81700"/>
            <a:ext cx="377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routes 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0CF2E3-5B5E-4FC6-A5E5-D833761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2935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fichiers *.routes.js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0E441-74D7-41C8-9087-44CCD58A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00650"/>
            <a:ext cx="4229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BB7D4-8136-45B1-AE5C-95ECE7D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00650"/>
            <a:ext cx="422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39992E-72B4-42EE-B511-91ED9CB6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292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</a:defRPr>
            </a:pPr>
            <a:r>
              <a:rPr sz="2550" b="1">
                <a:solidFill>
                  <a:srgbClr val="071426"/>
                </a:solidFill>
              </a:rPr>
              <a:t>15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53D326-9F59-4DDA-83D1-2595747D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81700"/>
            <a:ext cx="377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schemas Prisma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4589EA-D860-4788-863C-B9E2E03F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2935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structures de donnees detectees</a:t>
            </a:r>
          </a:p>
        </p:txBody>
      </p:sp>
    </p:spTree>
    <p:extLst>
      <p:ext uri="{BB962C8B-B14F-4D97-AF65-F5344CB8AC3E}">
        <p14:creationId xmlns:p14="http://schemas.microsoft.com/office/powerpoint/2010/main" val="1781727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3B658-D4E2-40B4-8116-39AD5F40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ED04B-F564-4E09-AD1B-E85C6B48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141EE-A7E1-4ECA-BD22-03D1ACD3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953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112FD-2ED6-4578-9C9A-A32D9757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0D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873AA-6B88-4C60-981F-C2A3FEE4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8B875-3600-4274-BD19-322449B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2943A-03C3-41C8-BA47-715009B9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8105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>
                <a:alpha val="33333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1443fba7e4dfa"/>
          <a:stretch xmlns:a="http://schemas.openxmlformats.org/drawingml/2006/main"/>
        </p:blipFill>
        <p:spPr>
          <a:xfrm xmlns:a="http://schemas.openxmlformats.org/drawingml/2006/main">
            <a:off x="10744200" y="8667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45BE1-BB0D-488A-811E-3DDC144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21E"/>
                </a:solidFill>
              </a:defRPr>
            </a:pPr>
            <a:r>
              <a:rPr sz="975" b="1">
                <a:solidFill>
                  <a:srgbClr val="B8721E"/>
                </a:solidFill>
              </a:rPr>
              <a:t>PERSPECTIVES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0AEE4-08A8-42EE-A1E8-F6B0656C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08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BED62-1E38-48CF-B460-20190AF9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71FD9-25E8-40A1-B318-E655491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66377-32EF-438F-AA17-9E1A7BF8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Prochaine etape : passer d'une base solide a une solution encore plus robuste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6249E-B88E-44C8-A704-102466B8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Les fondations sont posees ; la priorite est maintenant l'industrialisation.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BDFC3-EB4F-40AD-9543-85956841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81100-C4C1-4244-813F-791ED269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6AA7C-E562-43EC-AC42-8DED2B82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6C4E9-F719-423B-8CBA-ED4EC546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26656-E5D3-41E9-ABBC-EC1547D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B910E-5611-41A0-9F38-4BBD780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3E520-E164-443B-A328-4180F111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Fiabiliser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68CAF-13F1-4A80-A04D-2968AD05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Renforcer les tests, la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validation continue et la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qualite globale.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B20D7-B117-4C74-B858-C671EFB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27904-E5CD-4A13-85CD-3F3E72B1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C83B1-AAC9-445B-B99A-6D845CF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B0355-7248-45F2-BAA3-7F5C53FD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A0968-148B-4858-B076-EAAF21AC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F0493-9DE4-4B88-B56D-706AFFC2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FB1FC-7E2F-4B10-8599-54B199E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Harmoniser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04B54A-D58E-454D-9596-57507276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Normaliser les conventions,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la documentation et les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parcours inter-modules.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1E2922-8C17-482F-AC08-3BB0B102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9E0A2-0422-46AC-A015-9CE836CA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8DE47D-A4B3-499B-AC03-EB030C78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11430">
            <a:solidFill>
              <a:srgbClr val="0714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D5E7F9-47EC-474C-8C5E-4922A28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4B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710840-72D3-4A8F-8DBD-00EF1268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A0D8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9B7B9A-176D-422E-88E0-A9DA15E8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AE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D676CC-C5BE-4DC4-8B80-8B2D1C5A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21E"/>
                </a:solidFill>
              </a:defRPr>
            </a:pPr>
            <a:r>
              <a:rPr sz="1125" b="1">
                <a:solidFill>
                  <a:srgbClr val="B8721E"/>
                </a:solidFill>
              </a:rPr>
              <a:t>Monter en gamme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532315-917B-43EB-9E1F-5116081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Ameliorer l'observabilite,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le monitoring et la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preparation au passage a</a:t>
            </a:r>
          </a:p>
          <a:p xmlns:a="http://schemas.openxmlformats.org/drawingml/2006/main">
            <a:pPr algn="l">
              <a:defRPr sz="1275" b="0">
                <a:solidFill>
                  <a:srgbClr val="071426"/>
                </a:solidFill>
              </a:defRPr>
            </a:pPr>
            <a:r>
              <a:rPr sz="1275" b="0">
                <a:solidFill>
                  <a:srgbClr val="071426"/>
                </a:solidFill>
              </a:rPr>
              <a:t>l'echelle.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94BACE-9CCF-46FB-B613-E9ACAA3F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9182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A43437-15E0-44A5-99B5-95465B24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76950"/>
            <a:ext cx="866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ParabellumGroups ERP constitue deja une base credible pour une digitalisation durable.</a:t>
            </a:r>
          </a:p>
        </p:txBody>
      </p:sp>
    </p:spTree>
    <p:extLst>
      <p:ext uri="{BB962C8B-B14F-4D97-AF65-F5344CB8AC3E}">
        <p14:creationId xmlns:p14="http://schemas.microsoft.com/office/powerpoint/2010/main" val="784690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2026-04-21T12:26:01.9950000Z</dcterms:created>
  <dcterms:modified xsi:type="dcterms:W3CDTF">2026-04-21T12:26:01.9950000Z</dcterms:modified>
</coreProperties>
</file>